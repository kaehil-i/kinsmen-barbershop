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25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Kinsmen Barbershop's website and booking system, built for Part 2 of our INSY7315 Work Integrated Learning module. The team — Kaehil, Kyra, Zario and Gregory — developed this as BCA3 students at IIE Emeris. The system is live right now at kinsmen-web.onrender.com, and we'll walk through what it does, how it was built, and how it was tested.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Kinsmen Barbers came to us needing a way to manage online bookings, staff scheduling and their service/product catalogue. In Part 1 of this project we delivered a single-file HTML prototype to validate the concept. For Part 2, we've turned that prototype into a fully working, hosted system. The system supports three distinct roles — Customer, Barber and Admin — each with their own experience, which we'll show you now.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live in two parts: the web app at kinsmen-web.onrender.com, and a separate API at kinsmen-api.onrender.com. All source code is public on GitHub at github.com/Kaehil-I/kinsmen-barbershop. We're hosting on Render's free tier, so if the site has been idle, the very first load can take up to a minute to wake up — that's expected behaviour, not a bug.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sign up and log in through Auth0, then browse our services and barbers. They can book one or more services at once, either with a specific barber or by choosing 'any available barber'. From their account, customers can view, reschedule or cancel their bookings, and leave a review once a visit is completed. At each stage — booking received, confirmed, and completed — the customer gets an email confirmation.
[Presenter: Gregory]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Barbers have their own view of their schedule, where they can confirm, complete, or mark a booking as a no-show, and block off time when they're unavailable. Admins manage the full catalogue — adding, editing or deactivating services and barbers, and setting working hours and barber skills. Admins can also grant Barber or Admin roles to staff accounts, and every role change is captured in an audit log.
[Presenter: Gregory]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system fits together. The browser talks to Kinsmen.Web, our ASP.NET Core MVC front end hosted on Render, which in turn talks to Kinsmen.Api, a separate ASP.NET Core service also on Render. For sign-in, the browser talks directly to Auth0. The API is the only part that talks to MongoDB Atlas in Cape Town, to Brevo for emails, and to Auth0 for token checks. GitHub Actions deploys to Render automatically once checks pass. The key point is that browsers never call the API directly — the API enforces every single rule.
[Presenter: Zario]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original Part 1 plan was SQL Server with Entity Framework on Azure, with our own custom account system. For Part 2 we moved to MongoDB Atlas, Auth0 for authentication, Render with Docker for hosting, Brevo for email, and GitHub Actions for deployment — still built in C# on .NET 10 throughout. We made this change for a few concrete reasons: better free tiers, not storing passwords ourselves, MongoDB's multi-document transaction support, and because Render's free tier blocks outbound SMTP, which is why we use Brevo's HTTPS API instead. In the end we used dependency injection, repository abstraction and unit-of-work transactions; the Factory, Strategy and Observer patterns from our Part 1 plan weren't actually needed.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core requirement was that two customers can never book the same barber for overlapping times. We enforce this with database transactions and a per-barber lock, so concurrent requests retry safely instead of conflicting. We also use an idempotency key, so if a customer double-clicks 'book', it never creates a second booking by accident. Prices are always calculated on the server, and each booking keeps a snapshot of the price at the time it was made. Each customer can have at most three active bookings, and only barbers qualified for a given service are offered — and every booking moves through a clear lifecycle, from Pending to Confirmed to Completed or No-show, with cancellation possible from Pending or Confirmed.
[Presenter: Zario]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Auth0 for login, and on every request our API checks the token's signature, issuer, audience and expiry — not just that a token exists. Role and ownership checks happen in both the web app and the API, so there's no single point of failure. We rate-limit requests per visitor and per logged-in user, returning a 429 status with a Retry-After header when limits are hit. We've also applied a Content Security Policy, anti-clickjacking headers, fixes for XSS issues we found, and we never commit secrets to Git. Staff role changes require a verified email, nobody can promote themselves, admins can't be demoted from inside the app, and every change is logged in an audit trail. As one concrete example from our own testing: our first rate limit was implemented per IP address, which meant every visitor behind our web server shared a single allowance — code review caught this, and limits now correctly follow each individual visitor.
[Presenter: Kyra]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CI, we build the actual Docker images and start them with production settings before anything ships, and we check our Content Security Policy in a real browser rather than assuming it's correct. Reviewing and testing the system surfaced several real problems before they reached production: a shared rate limit, a stored XSS vulnerability through user-entered names, accidentally deleted setup scripts, and a locale-related price formatting bug. Catching these during development, rather than after deployment, is exactly what this process is for.
[Presenter: Kyra]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workflow starts with a feature branch, which becomes a pull request. From there, CI runs automatically — build, a vulnerability check, our test suite, and a Docker smoke test. A teammate then reviews the pull request; branch protection requires at least one approval and all checks passing before it can merge. Once merged, Render deploys automatically. All our secrets live only in Render's dashboard, never in the repository. One honest lesson learned: we only switched on branch protection partway through the project, after a merge slipped through without review — we've enforced it strictly ever since.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what each of us focused on. Zario led the booking API, MongoDB design, transactions and Atlas scripts, and reviewed/merged most pull requests. Gregory built the MVC front end, barber schedule, role-based navigation, admin screens and accessibility work. [Kyra's and Kaehil's summaries need to be completed/confirmed before this is finalised.] We all reviewed each other's work across boundaries, but this reflects where each of us spent most of our time.
[Presenter: everyone]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current limitations. Because we're on free hosting tiers, the system can sleep when idle, and there's roughly a one-second latency between our API in Frankfurt and our database in Cape Town. The prices and hours shown are demo data awaiting the client's sign-off, and pending bookings don't yet expire automatically. We haven't built a loyalty system, guest booking, a shop/POS feature, or per-barber profile pages — these were out of scope for Part 2. Looking ahead, our next steps are setting up a client domain for email, persisting login keys, and moving the database to a closer region to reduce that latency.
[Presenter: everyone]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Once again, the live site is at kinsmen-web.onrender.com, and the full source is on GitHub at github.com/Kaehil-I/kinsmen-barbershop. This was built by Kaehil, Kyra, Zario and Gregory — we're happy to take any questions.
[Presenter: Kaehil]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C3626"/>
        </a:solidFill>
        <a:effectLst/>
      </p:bgPr>
    </p:bg>
    <p:spTree>
      <p:nvGrpSpPr>
        <p:cNvPr id="1" name=""/>
        <p:cNvGrpSpPr/>
        <p:nvPr/>
      </p:nvGrpSpPr>
      <p:grpSpPr>
        <a:xfrm>
          <a:off x="0" y="0"/>
          <a:ext cx="0" cy="0"/>
          <a:chOff x="0" y="0"/>
          <a:chExt cx="0" cy="0"/>
        </a:xfrm>
      </p:grpSpPr>
      <p:sp>
        <p:nvSpPr>
          <p:cNvPr id="2" name="Text 0"/>
          <p:cNvSpPr txBox="1"/>
          <p:nvPr/>
        </p:nvSpPr>
        <p:spPr>
          <a:xfrm>
            <a:off x="548640" y="1965960"/>
            <a:ext cx="11094415" cy="960120"/>
          </a:xfrm>
          <a:prstGeom prst="rect">
            <a:avLst/>
          </a:prstGeom>
          <a:noFill/>
          <a:ln/>
        </p:spPr>
        <p:txBody>
          <a:bodyPr wrap="square" lIns="0" tIns="0" rIns="0" bIns="0" rtlCol="0" anchor="ctr"/>
          <a:lstStyle/>
          <a:p>
            <a:pPr marL="0" indent="0" algn="ctr">
              <a:buNone/>
            </a:pPr>
            <a:r>
              <a:rPr lang="en-US" sz="4800" b="1" dirty="0">
                <a:solidFill>
                  <a:srgbClr val="F3EAE3"/>
                </a:solidFill>
                <a:latin typeface="Outfit" pitchFamily="34" charset="0"/>
                <a:ea typeface="Outfit" pitchFamily="34" charset="-122"/>
                <a:cs typeface="Outfit" pitchFamily="34" charset="-120"/>
              </a:rPr>
              <a:t>Kinsmen Barbershop</a:t>
            </a:r>
            <a:endParaRPr lang="en-US" sz="4800" dirty="0"/>
          </a:p>
        </p:txBody>
      </p:sp>
      <p:sp>
        <p:nvSpPr>
          <p:cNvPr id="3" name="Text 1"/>
          <p:cNvSpPr txBox="1"/>
          <p:nvPr/>
        </p:nvSpPr>
        <p:spPr>
          <a:xfrm>
            <a:off x="548640" y="2788920"/>
            <a:ext cx="11094415" cy="548640"/>
          </a:xfrm>
          <a:prstGeom prst="rect">
            <a:avLst/>
          </a:prstGeom>
          <a:noFill/>
          <a:ln/>
        </p:spPr>
        <p:txBody>
          <a:bodyPr wrap="square" lIns="0" tIns="0" rIns="0" bIns="0" rtlCol="0" anchor="ctr"/>
          <a:lstStyle/>
          <a:p>
            <a:pPr marL="0" indent="0" algn="ctr">
              <a:buNone/>
            </a:pPr>
            <a:r>
              <a:rPr lang="en-US" sz="2400" dirty="0">
                <a:solidFill>
                  <a:srgbClr val="F3EAE3"/>
                </a:solidFill>
                <a:latin typeface="Outfit" pitchFamily="34" charset="0"/>
                <a:ea typeface="Outfit" pitchFamily="34" charset="-122"/>
                <a:cs typeface="Outfit" pitchFamily="34" charset="-120"/>
              </a:rPr>
              <a:t>Website &amp; Booking System</a:t>
            </a:r>
            <a:endParaRPr lang="en-US" sz="2400" dirty="0"/>
          </a:p>
        </p:txBody>
      </p:sp>
      <p:sp>
        <p:nvSpPr>
          <p:cNvPr id="4" name="Text 2"/>
          <p:cNvSpPr txBox="1"/>
          <p:nvPr/>
        </p:nvSpPr>
        <p:spPr>
          <a:xfrm>
            <a:off x="548640" y="3520440"/>
            <a:ext cx="11094415" cy="411480"/>
          </a:xfrm>
          <a:prstGeom prst="rect">
            <a:avLst/>
          </a:prstGeom>
          <a:noFill/>
          <a:ln/>
        </p:spPr>
        <p:txBody>
          <a:bodyPr wrap="square" lIns="0" tIns="0" rIns="0" bIns="0" rtlCol="0" anchor="ctr"/>
          <a:lstStyle/>
          <a:p>
            <a:pPr marL="0" indent="0" algn="ctr">
              <a:buNone/>
            </a:pPr>
            <a:r>
              <a:rPr lang="en-US" sz="1500" dirty="0">
                <a:solidFill>
                  <a:srgbClr val="F3EAE3"/>
                </a:solidFill>
                <a:latin typeface="Inter" pitchFamily="34" charset="0"/>
                <a:ea typeface="Inter" pitchFamily="34" charset="-122"/>
                <a:cs typeface="Inter" pitchFamily="34" charset="-120"/>
              </a:rPr>
              <a:t>INSY7315 WIL, Part 2  ·  Built by Kaehil, Kyra, Zario and Gregory  ·  BCA3, IIE Emeris</a:t>
            </a:r>
            <a:endParaRPr lang="en-US" sz="1500" dirty="0"/>
          </a:p>
        </p:txBody>
      </p:sp>
      <p:sp>
        <p:nvSpPr>
          <p:cNvPr id="5" name="Shape 3"/>
          <p:cNvSpPr/>
          <p:nvPr/>
        </p:nvSpPr>
        <p:spPr>
          <a:xfrm>
            <a:off x="3992728" y="4297680"/>
            <a:ext cx="4206240" cy="502920"/>
          </a:xfrm>
          <a:prstGeom prst="roundRect">
            <a:avLst>
              <a:gd name="adj" fmla="val 21818"/>
            </a:avLst>
          </a:prstGeom>
          <a:solidFill>
            <a:srgbClr val="E8E3D8"/>
          </a:solidFill>
          <a:ln/>
        </p:spPr>
        <p:txBody>
          <a:bodyPr/>
          <a:lstStyle/>
          <a:p>
            <a:endParaRPr lang="en-ZA"/>
          </a:p>
        </p:txBody>
      </p:sp>
      <p:sp>
        <p:nvSpPr>
          <p:cNvPr id="6" name="Text 4"/>
          <p:cNvSpPr txBox="1"/>
          <p:nvPr/>
        </p:nvSpPr>
        <p:spPr>
          <a:xfrm>
            <a:off x="3992728" y="4297680"/>
            <a:ext cx="4206240" cy="502920"/>
          </a:xfrm>
          <a:prstGeom prst="rect">
            <a:avLst/>
          </a:prstGeom>
          <a:noFill/>
          <a:ln/>
        </p:spPr>
        <p:txBody>
          <a:bodyPr wrap="square" lIns="0" tIns="0" rIns="0" bIns="0" rtlCol="0" anchor="ctr"/>
          <a:lstStyle/>
          <a:p>
            <a:pPr marL="0" indent="0" algn="ctr">
              <a:buNone/>
            </a:pPr>
            <a:r>
              <a:rPr lang="en-US" sz="1400" b="1" dirty="0">
                <a:solidFill>
                  <a:srgbClr val="55503F"/>
                </a:solidFill>
                <a:latin typeface="JetBrains Mono" pitchFamily="34" charset="0"/>
                <a:ea typeface="JetBrains Mono" pitchFamily="34" charset="-122"/>
                <a:cs typeface="JetBrains Mono" pitchFamily="34" charset="-120"/>
              </a:rPr>
              <a:t>kinsmen-web.onrender.com</a:t>
            </a:r>
            <a:endParaRPr lang="en-US" sz="1400" dirty="0"/>
          </a:p>
        </p:txBody>
      </p:sp>
      <p:sp>
        <p:nvSpPr>
          <p:cNvPr id="7" name="Text 5"/>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8" name="Text 6"/>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PROJECT OVERVIEW</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The problem and the solution</a:t>
            </a:r>
            <a:endParaRPr lang="en-US" sz="3000" dirty="0"/>
          </a:p>
        </p:txBody>
      </p:sp>
      <p:sp>
        <p:nvSpPr>
          <p:cNvPr id="4" name="Shape 2"/>
          <p:cNvSpPr/>
          <p:nvPr/>
        </p:nvSpPr>
        <p:spPr>
          <a:xfrm>
            <a:off x="548640" y="192024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92024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874520"/>
            <a:ext cx="6181344" cy="640080"/>
          </a:xfrm>
          <a:prstGeom prst="rect">
            <a:avLst/>
          </a:prstGeom>
          <a:noFill/>
          <a:ln/>
        </p:spPr>
        <p:txBody>
          <a:bodyPr wrap="square" lIns="0" tIns="0" rIns="0" bIns="0" rtlCol="0" anchor="t"/>
          <a:lstStyle/>
          <a:p>
            <a:pPr marL="0" indent="0">
              <a:lnSpc>
                <a:spcPct val="112000"/>
              </a:lnSpc>
              <a:buNone/>
            </a:pPr>
            <a:r>
              <a:rPr lang="en-US" sz="1600" dirty="0">
                <a:solidFill>
                  <a:srgbClr val="322F29"/>
                </a:solidFill>
                <a:latin typeface="Inter" pitchFamily="34" charset="0"/>
                <a:ea typeface="Inter" pitchFamily="34" charset="-122"/>
                <a:cs typeface="Inter" pitchFamily="34" charset="-120"/>
              </a:rPr>
              <a:t>Kinsmen Barbers needed online booking, staff scheduling and catalogue management.</a:t>
            </a:r>
            <a:endParaRPr lang="en-US" sz="1600" dirty="0"/>
          </a:p>
        </p:txBody>
      </p:sp>
      <p:sp>
        <p:nvSpPr>
          <p:cNvPr id="7" name="Shape 5"/>
          <p:cNvSpPr/>
          <p:nvPr/>
        </p:nvSpPr>
        <p:spPr>
          <a:xfrm>
            <a:off x="548640" y="278892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78892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743200"/>
            <a:ext cx="6181344" cy="640080"/>
          </a:xfrm>
          <a:prstGeom prst="rect">
            <a:avLst/>
          </a:prstGeom>
          <a:noFill/>
          <a:ln/>
        </p:spPr>
        <p:txBody>
          <a:bodyPr wrap="square" lIns="0" tIns="0" rIns="0" bIns="0" rtlCol="0" anchor="t"/>
          <a:lstStyle/>
          <a:p>
            <a:pPr marL="0" indent="0">
              <a:lnSpc>
                <a:spcPct val="112000"/>
              </a:lnSpc>
              <a:buNone/>
            </a:pPr>
            <a:r>
              <a:rPr lang="en-US" sz="1600" dirty="0">
                <a:solidFill>
                  <a:srgbClr val="322F29"/>
                </a:solidFill>
                <a:latin typeface="Inter" pitchFamily="34" charset="0"/>
                <a:ea typeface="Inter" pitchFamily="34" charset="-122"/>
                <a:cs typeface="Inter" pitchFamily="34" charset="-120"/>
              </a:rPr>
              <a:t>Part 1 was a single-file HTML prototype; Part 2 is a working, hosted system.</a:t>
            </a:r>
            <a:endParaRPr lang="en-US" sz="1600" dirty="0"/>
          </a:p>
        </p:txBody>
      </p:sp>
      <p:sp>
        <p:nvSpPr>
          <p:cNvPr id="10" name="Shape 8"/>
          <p:cNvSpPr/>
          <p:nvPr/>
        </p:nvSpPr>
        <p:spPr>
          <a:xfrm>
            <a:off x="548640" y="365760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1" name="Text 9"/>
          <p:cNvSpPr txBox="1"/>
          <p:nvPr/>
        </p:nvSpPr>
        <p:spPr>
          <a:xfrm>
            <a:off x="548640" y="365760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03</a:t>
            </a:r>
            <a:endParaRPr lang="en-US" sz="1100" dirty="0"/>
          </a:p>
        </p:txBody>
      </p:sp>
      <p:sp>
        <p:nvSpPr>
          <p:cNvPr id="12" name="Text 10"/>
          <p:cNvSpPr txBox="1"/>
          <p:nvPr/>
        </p:nvSpPr>
        <p:spPr>
          <a:xfrm>
            <a:off x="1133856" y="3611880"/>
            <a:ext cx="6181344" cy="640080"/>
          </a:xfrm>
          <a:prstGeom prst="rect">
            <a:avLst/>
          </a:prstGeom>
          <a:noFill/>
          <a:ln/>
        </p:spPr>
        <p:txBody>
          <a:bodyPr wrap="square" lIns="0" tIns="0" rIns="0" bIns="0" rtlCol="0" anchor="t"/>
          <a:lstStyle/>
          <a:p>
            <a:pPr marL="0" indent="0">
              <a:lnSpc>
                <a:spcPct val="112000"/>
              </a:lnSpc>
              <a:buNone/>
            </a:pPr>
            <a:r>
              <a:rPr lang="en-US" sz="1600" dirty="0">
                <a:solidFill>
                  <a:srgbClr val="322F29"/>
                </a:solidFill>
                <a:latin typeface="Inter" pitchFamily="34" charset="0"/>
                <a:ea typeface="Inter" pitchFamily="34" charset="-122"/>
                <a:cs typeface="Inter" pitchFamily="34" charset="-120"/>
              </a:rPr>
              <a:t>Three roles: Customer, Barber, Admin.</a:t>
            </a:r>
            <a:endParaRPr lang="en-US" sz="1600" dirty="0"/>
          </a:p>
        </p:txBody>
      </p:sp>
      <p:sp>
        <p:nvSpPr>
          <p:cNvPr id="13" name="Shape 11"/>
          <p:cNvSpPr/>
          <p:nvPr/>
        </p:nvSpPr>
        <p:spPr>
          <a:xfrm>
            <a:off x="5516575" y="4206240"/>
            <a:ext cx="1828800" cy="1371600"/>
          </a:xfrm>
          <a:prstGeom prst="roundRect">
            <a:avLst>
              <a:gd name="adj" fmla="val 9333"/>
            </a:avLst>
          </a:prstGeom>
          <a:solidFill>
            <a:srgbClr val="7C3626"/>
          </a:solidFill>
          <a:ln/>
        </p:spPr>
        <p:txBody>
          <a:bodyPr/>
          <a:lstStyle/>
          <a:p>
            <a:endParaRPr lang="en-ZA"/>
          </a:p>
        </p:txBody>
      </p:sp>
      <p:sp>
        <p:nvSpPr>
          <p:cNvPr id="14" name="Text 12"/>
          <p:cNvSpPr txBox="1"/>
          <p:nvPr/>
        </p:nvSpPr>
        <p:spPr>
          <a:xfrm>
            <a:off x="5516575" y="4206240"/>
            <a:ext cx="1828800" cy="1371600"/>
          </a:xfrm>
          <a:prstGeom prst="rect">
            <a:avLst/>
          </a:prstGeom>
          <a:noFill/>
          <a:ln/>
        </p:spPr>
        <p:txBody>
          <a:bodyPr wrap="square" lIns="0" tIns="0" rIns="0" bIns="0" rtlCol="0" anchor="ctr"/>
          <a:lstStyle/>
          <a:p>
            <a:pPr marL="0" indent="0" algn="ctr">
              <a:buNone/>
            </a:pPr>
            <a:r>
              <a:rPr lang="en-US" sz="1600" b="1" dirty="0">
                <a:solidFill>
                  <a:srgbClr val="F3EAE3"/>
                </a:solidFill>
                <a:latin typeface="Outfit" pitchFamily="34" charset="0"/>
                <a:ea typeface="Outfit" pitchFamily="34" charset="-122"/>
                <a:cs typeface="Outfit" pitchFamily="34" charset="-120"/>
              </a:rPr>
              <a:t>Customer</a:t>
            </a:r>
            <a:endParaRPr lang="en-US" sz="1600" dirty="0"/>
          </a:p>
        </p:txBody>
      </p:sp>
      <p:sp>
        <p:nvSpPr>
          <p:cNvPr id="15" name="Shape 13"/>
          <p:cNvSpPr/>
          <p:nvPr/>
        </p:nvSpPr>
        <p:spPr>
          <a:xfrm>
            <a:off x="7665415" y="4206240"/>
            <a:ext cx="1828800" cy="1371600"/>
          </a:xfrm>
          <a:prstGeom prst="roundRect">
            <a:avLst>
              <a:gd name="adj" fmla="val 9333"/>
            </a:avLst>
          </a:prstGeom>
          <a:solidFill>
            <a:srgbClr val="1F5C57"/>
          </a:solidFill>
          <a:ln/>
        </p:spPr>
        <p:txBody>
          <a:bodyPr/>
          <a:lstStyle/>
          <a:p>
            <a:endParaRPr lang="en-ZA"/>
          </a:p>
        </p:txBody>
      </p:sp>
      <p:sp>
        <p:nvSpPr>
          <p:cNvPr id="16" name="Text 14"/>
          <p:cNvSpPr txBox="1"/>
          <p:nvPr/>
        </p:nvSpPr>
        <p:spPr>
          <a:xfrm>
            <a:off x="7665415" y="4206240"/>
            <a:ext cx="1828800" cy="1371600"/>
          </a:xfrm>
          <a:prstGeom prst="rect">
            <a:avLst/>
          </a:prstGeom>
          <a:noFill/>
          <a:ln/>
        </p:spPr>
        <p:txBody>
          <a:bodyPr wrap="square" lIns="0" tIns="0" rIns="0" bIns="0" rtlCol="0" anchor="ctr"/>
          <a:lstStyle/>
          <a:p>
            <a:pPr marL="0" indent="0" algn="ctr">
              <a:buNone/>
            </a:pPr>
            <a:r>
              <a:rPr lang="en-US" sz="1600" b="1" dirty="0">
                <a:solidFill>
                  <a:srgbClr val="F3EAE3"/>
                </a:solidFill>
                <a:latin typeface="Outfit" pitchFamily="34" charset="0"/>
                <a:ea typeface="Outfit" pitchFamily="34" charset="-122"/>
                <a:cs typeface="Outfit" pitchFamily="34" charset="-120"/>
              </a:rPr>
              <a:t>Barber</a:t>
            </a:r>
            <a:endParaRPr lang="en-US" sz="1600" dirty="0"/>
          </a:p>
        </p:txBody>
      </p:sp>
      <p:sp>
        <p:nvSpPr>
          <p:cNvPr id="17" name="Shape 15"/>
          <p:cNvSpPr/>
          <p:nvPr/>
        </p:nvSpPr>
        <p:spPr>
          <a:xfrm>
            <a:off x="9814255" y="4206240"/>
            <a:ext cx="1828800" cy="1371600"/>
          </a:xfrm>
          <a:prstGeom prst="roundRect">
            <a:avLst>
              <a:gd name="adj" fmla="val 9333"/>
            </a:avLst>
          </a:prstGeom>
          <a:solidFill>
            <a:srgbClr val="9C6B22"/>
          </a:solidFill>
          <a:ln/>
        </p:spPr>
        <p:txBody>
          <a:bodyPr/>
          <a:lstStyle/>
          <a:p>
            <a:endParaRPr lang="en-ZA"/>
          </a:p>
        </p:txBody>
      </p:sp>
      <p:sp>
        <p:nvSpPr>
          <p:cNvPr id="18" name="Text 16"/>
          <p:cNvSpPr txBox="1"/>
          <p:nvPr/>
        </p:nvSpPr>
        <p:spPr>
          <a:xfrm>
            <a:off x="9814255" y="4206240"/>
            <a:ext cx="1828800" cy="1371600"/>
          </a:xfrm>
          <a:prstGeom prst="rect">
            <a:avLst/>
          </a:prstGeom>
          <a:noFill/>
          <a:ln/>
        </p:spPr>
        <p:txBody>
          <a:bodyPr wrap="square" lIns="0" tIns="0" rIns="0" bIns="0" rtlCol="0" anchor="ctr"/>
          <a:lstStyle/>
          <a:p>
            <a:pPr marL="0" indent="0" algn="ctr">
              <a:buNone/>
            </a:pPr>
            <a:r>
              <a:rPr lang="en-US" sz="1600" b="1" dirty="0">
                <a:solidFill>
                  <a:srgbClr val="F3EAE3"/>
                </a:solidFill>
                <a:latin typeface="Outfit" pitchFamily="34" charset="0"/>
                <a:ea typeface="Outfit" pitchFamily="34" charset="-122"/>
                <a:cs typeface="Outfit" pitchFamily="34" charset="-120"/>
              </a:rPr>
              <a:t>Admin</a:t>
            </a:r>
            <a:endParaRPr lang="en-US" sz="1600" dirty="0"/>
          </a:p>
        </p:txBody>
      </p:sp>
      <p:sp>
        <p:nvSpPr>
          <p:cNvPr id="19" name="Text 17"/>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20" name="Text 18"/>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IT'S LIVE</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Live system</a:t>
            </a:r>
            <a:endParaRPr lang="en-US" sz="3000" dirty="0"/>
          </a:p>
        </p:txBody>
      </p:sp>
      <p:sp>
        <p:nvSpPr>
          <p:cNvPr id="4" name="Shape 2"/>
          <p:cNvSpPr/>
          <p:nvPr/>
        </p:nvSpPr>
        <p:spPr>
          <a:xfrm>
            <a:off x="548640" y="192024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92024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874520"/>
            <a:ext cx="4078224" cy="82296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Web app: kinsmen-web.onrender.com</a:t>
            </a:r>
            <a:endParaRPr lang="en-US" sz="1400" dirty="0"/>
          </a:p>
          <a:p>
            <a:pPr marL="0" indent="0">
              <a:lnSpc>
                <a:spcPct val="112000"/>
              </a:lnSpc>
              <a:buNone/>
            </a:pPr>
            <a:r>
              <a:rPr lang="en-US" sz="1400" dirty="0">
                <a:solidFill>
                  <a:srgbClr val="322F29"/>
                </a:solidFill>
                <a:latin typeface="Inter" pitchFamily="34" charset="0"/>
                <a:ea typeface="Inter" pitchFamily="34" charset="-122"/>
                <a:cs typeface="Inter" pitchFamily="34" charset="-120"/>
              </a:rPr>
              <a:t>API: kinsmen-api.onrender.com</a:t>
            </a:r>
            <a:endParaRPr lang="en-US" sz="1400" dirty="0"/>
          </a:p>
        </p:txBody>
      </p:sp>
      <p:sp>
        <p:nvSpPr>
          <p:cNvPr id="7" name="Shape 5"/>
          <p:cNvSpPr/>
          <p:nvPr/>
        </p:nvSpPr>
        <p:spPr>
          <a:xfrm>
            <a:off x="548640" y="288036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88036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834640"/>
            <a:ext cx="4078224" cy="64008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Source: github.com/Kaehil-I/kinsmen-barbershop</a:t>
            </a:r>
            <a:endParaRPr lang="en-US" sz="1400" dirty="0"/>
          </a:p>
        </p:txBody>
      </p:sp>
      <p:sp>
        <p:nvSpPr>
          <p:cNvPr id="10" name="Shape 8"/>
          <p:cNvSpPr/>
          <p:nvPr/>
        </p:nvSpPr>
        <p:spPr>
          <a:xfrm>
            <a:off x="548640" y="3931920"/>
            <a:ext cx="4663440" cy="1051560"/>
          </a:xfrm>
          <a:prstGeom prst="roundRect">
            <a:avLst>
              <a:gd name="adj" fmla="val 8696"/>
            </a:avLst>
          </a:prstGeom>
          <a:solidFill>
            <a:srgbClr val="E8E3D8"/>
          </a:solidFill>
          <a:ln/>
        </p:spPr>
        <p:txBody>
          <a:bodyPr/>
          <a:lstStyle/>
          <a:p>
            <a:endParaRPr lang="en-ZA"/>
          </a:p>
        </p:txBody>
      </p:sp>
      <p:sp>
        <p:nvSpPr>
          <p:cNvPr id="11" name="Text 9"/>
          <p:cNvSpPr txBox="1"/>
          <p:nvPr/>
        </p:nvSpPr>
        <p:spPr>
          <a:xfrm>
            <a:off x="822960" y="3931920"/>
            <a:ext cx="4114800" cy="1051560"/>
          </a:xfrm>
          <a:prstGeom prst="rect">
            <a:avLst/>
          </a:prstGeom>
          <a:noFill/>
          <a:ln/>
        </p:spPr>
        <p:txBody>
          <a:bodyPr wrap="square" lIns="0" tIns="0" rIns="0" bIns="0" rtlCol="0" anchor="ctr"/>
          <a:lstStyle/>
          <a:p>
            <a:pPr marL="0" indent="0" algn="l">
              <a:lnSpc>
                <a:spcPct val="110000"/>
              </a:lnSpc>
              <a:buNone/>
            </a:pPr>
            <a:r>
              <a:rPr lang="en-US" sz="1250" i="1" dirty="0">
                <a:solidFill>
                  <a:srgbClr val="55503F"/>
                </a:solidFill>
                <a:latin typeface="Inter" pitchFamily="34" charset="0"/>
                <a:ea typeface="Inter" pitchFamily="34" charset="-122"/>
                <a:cs typeface="Inter" pitchFamily="34" charset="-120"/>
              </a:rPr>
              <a:t>Runs on Render's free tier — first load after idle can take up to a minute.</a:t>
            </a:r>
            <a:endParaRPr lang="en-US" sz="1250" dirty="0"/>
          </a:p>
        </p:txBody>
      </p:sp>
      <p:sp>
        <p:nvSpPr>
          <p:cNvPr id="12" name="Shape 10"/>
          <p:cNvSpPr/>
          <p:nvPr/>
        </p:nvSpPr>
        <p:spPr>
          <a:xfrm>
            <a:off x="5760721" y="1920240"/>
            <a:ext cx="5608320" cy="2560320"/>
          </a:xfrm>
          <a:prstGeom prst="roundRect">
            <a:avLst>
              <a:gd name="adj" fmla="val 4286"/>
            </a:avLst>
          </a:prstGeom>
          <a:solidFill>
            <a:srgbClr val="E8E3D8"/>
          </a:solidFill>
          <a:ln w="12700">
            <a:solidFill>
              <a:srgbClr val="C9BFA8"/>
            </a:solidFill>
            <a:prstDash val="dash"/>
          </a:ln>
        </p:spPr>
        <p:txBody>
          <a:bodyPr/>
          <a:lstStyle/>
          <a:p>
            <a:endParaRPr lang="en-ZA"/>
          </a:p>
        </p:txBody>
      </p:sp>
      <p:sp>
        <p:nvSpPr>
          <p:cNvPr id="14" name="Text 12"/>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5" name="Text 13"/>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CUSTOMER EXPERIENCE</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Booking, from start to finish</a:t>
            </a:r>
            <a:endParaRPr lang="en-US" sz="3000" dirty="0"/>
          </a:p>
        </p:txBody>
      </p:sp>
      <p:sp>
        <p:nvSpPr>
          <p:cNvPr id="4" name="Shape 2"/>
          <p:cNvSpPr/>
          <p:nvPr/>
        </p:nvSpPr>
        <p:spPr>
          <a:xfrm>
            <a:off x="548640" y="178308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78308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737360"/>
            <a:ext cx="5449824" cy="54864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Sign up / log in (Auth0), browse services and barbers.</a:t>
            </a:r>
            <a:endParaRPr lang="en-US" sz="1350" dirty="0"/>
          </a:p>
        </p:txBody>
      </p:sp>
      <p:sp>
        <p:nvSpPr>
          <p:cNvPr id="7" name="Shape 5"/>
          <p:cNvSpPr/>
          <p:nvPr/>
        </p:nvSpPr>
        <p:spPr>
          <a:xfrm>
            <a:off x="548640" y="2441448"/>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441448"/>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395728"/>
            <a:ext cx="5449824" cy="54864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Book one or more services with a chosen barber or “any available barber”.</a:t>
            </a:r>
            <a:endParaRPr lang="en-US" sz="1350" dirty="0"/>
          </a:p>
        </p:txBody>
      </p:sp>
      <p:sp>
        <p:nvSpPr>
          <p:cNvPr id="10" name="Shape 8"/>
          <p:cNvSpPr/>
          <p:nvPr/>
        </p:nvSpPr>
        <p:spPr>
          <a:xfrm>
            <a:off x="548640" y="3099816"/>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1" name="Text 9"/>
          <p:cNvSpPr txBox="1"/>
          <p:nvPr/>
        </p:nvSpPr>
        <p:spPr>
          <a:xfrm>
            <a:off x="548640" y="3099816"/>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03</a:t>
            </a:r>
            <a:endParaRPr lang="en-US" sz="1100" dirty="0"/>
          </a:p>
        </p:txBody>
      </p:sp>
      <p:sp>
        <p:nvSpPr>
          <p:cNvPr id="12" name="Text 10"/>
          <p:cNvSpPr txBox="1"/>
          <p:nvPr/>
        </p:nvSpPr>
        <p:spPr>
          <a:xfrm>
            <a:off x="1133856" y="3054096"/>
            <a:ext cx="5449824" cy="54864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View, reschedule, cancel bookings; review a completed visit.</a:t>
            </a:r>
            <a:endParaRPr lang="en-US" sz="1350" dirty="0"/>
          </a:p>
        </p:txBody>
      </p:sp>
      <p:sp>
        <p:nvSpPr>
          <p:cNvPr id="13" name="Shape 11"/>
          <p:cNvSpPr/>
          <p:nvPr/>
        </p:nvSpPr>
        <p:spPr>
          <a:xfrm>
            <a:off x="548640" y="3758184"/>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4" name="Text 12"/>
          <p:cNvSpPr txBox="1"/>
          <p:nvPr/>
        </p:nvSpPr>
        <p:spPr>
          <a:xfrm>
            <a:off x="548640" y="3758184"/>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04</a:t>
            </a:r>
            <a:endParaRPr lang="en-US" sz="1100" dirty="0"/>
          </a:p>
        </p:txBody>
      </p:sp>
      <p:sp>
        <p:nvSpPr>
          <p:cNvPr id="15" name="Text 13"/>
          <p:cNvSpPr txBox="1"/>
          <p:nvPr/>
        </p:nvSpPr>
        <p:spPr>
          <a:xfrm>
            <a:off x="1133856" y="3712464"/>
            <a:ext cx="5449824" cy="54864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Email confirmations: booking received, confirmed, completed.</a:t>
            </a:r>
            <a:endParaRPr lang="en-US" sz="1350" dirty="0"/>
          </a:p>
        </p:txBody>
      </p:sp>
      <p:sp>
        <p:nvSpPr>
          <p:cNvPr id="16" name="Shape 14"/>
          <p:cNvSpPr/>
          <p:nvPr/>
        </p:nvSpPr>
        <p:spPr>
          <a:xfrm>
            <a:off x="731520" y="4526280"/>
            <a:ext cx="2331720" cy="1783080"/>
          </a:xfrm>
          <a:prstGeom prst="roundRect">
            <a:avLst>
              <a:gd name="adj" fmla="val 6154"/>
            </a:avLst>
          </a:prstGeom>
          <a:solidFill>
            <a:srgbClr val="E8E3D8"/>
          </a:solidFill>
          <a:ln w="12700">
            <a:solidFill>
              <a:srgbClr val="C9BFA8"/>
            </a:solidFill>
            <a:prstDash val="dash"/>
          </a:ln>
        </p:spPr>
        <p:txBody>
          <a:bodyPr/>
          <a:lstStyle/>
          <a:p>
            <a:endParaRPr lang="en-ZA"/>
          </a:p>
        </p:txBody>
      </p:sp>
      <p:sp>
        <p:nvSpPr>
          <p:cNvPr id="17" name="Text 15"/>
          <p:cNvSpPr txBox="1"/>
          <p:nvPr/>
        </p:nvSpPr>
        <p:spPr>
          <a:xfrm>
            <a:off x="548640" y="4526280"/>
            <a:ext cx="2788920" cy="178308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1100" dirty="0"/>
          </a:p>
        </p:txBody>
      </p:sp>
      <p:sp>
        <p:nvSpPr>
          <p:cNvPr id="18" name="Shape 16"/>
          <p:cNvSpPr/>
          <p:nvPr/>
        </p:nvSpPr>
        <p:spPr>
          <a:xfrm>
            <a:off x="3520440" y="4727448"/>
            <a:ext cx="2697480" cy="1380744"/>
          </a:xfrm>
          <a:prstGeom prst="roundRect">
            <a:avLst>
              <a:gd name="adj" fmla="val 6154"/>
            </a:avLst>
          </a:prstGeom>
          <a:solidFill>
            <a:srgbClr val="E8E3D8"/>
          </a:solidFill>
          <a:ln w="12700">
            <a:solidFill>
              <a:srgbClr val="C9BFA8"/>
            </a:solidFill>
            <a:prstDash val="dash"/>
          </a:ln>
        </p:spPr>
        <p:txBody>
          <a:bodyPr/>
          <a:lstStyle/>
          <a:p>
            <a:endParaRPr lang="en-ZA"/>
          </a:p>
        </p:txBody>
      </p:sp>
      <p:sp>
        <p:nvSpPr>
          <p:cNvPr id="19" name="Text 17"/>
          <p:cNvSpPr txBox="1"/>
          <p:nvPr/>
        </p:nvSpPr>
        <p:spPr>
          <a:xfrm>
            <a:off x="3520440" y="4526280"/>
            <a:ext cx="3195320" cy="1581912"/>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1100" dirty="0"/>
          </a:p>
        </p:txBody>
      </p:sp>
      <p:sp>
        <p:nvSpPr>
          <p:cNvPr id="20" name="Text 18"/>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21" name="Text 19"/>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STAFF &amp; ADMIN</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Barber and admin tools</a:t>
            </a:r>
            <a:endParaRPr lang="en-US" sz="3000" dirty="0"/>
          </a:p>
        </p:txBody>
      </p:sp>
      <p:sp>
        <p:nvSpPr>
          <p:cNvPr id="4" name="Shape 2"/>
          <p:cNvSpPr/>
          <p:nvPr/>
        </p:nvSpPr>
        <p:spPr>
          <a:xfrm>
            <a:off x="548640" y="187452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87452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828800"/>
            <a:ext cx="5449824" cy="77724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Barbers: own schedule, confirm / complete / no-show, block off time.</a:t>
            </a:r>
            <a:endParaRPr lang="en-US" sz="1400" dirty="0"/>
          </a:p>
        </p:txBody>
      </p:sp>
      <p:sp>
        <p:nvSpPr>
          <p:cNvPr id="7" name="Shape 5"/>
          <p:cNvSpPr/>
          <p:nvPr/>
        </p:nvSpPr>
        <p:spPr>
          <a:xfrm>
            <a:off x="548640" y="278892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78892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743200"/>
            <a:ext cx="5449824" cy="77724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Admins: add, edit, deactivate services and barbers, working hours and barber skills.</a:t>
            </a:r>
            <a:endParaRPr lang="en-US" sz="1400" dirty="0"/>
          </a:p>
        </p:txBody>
      </p:sp>
      <p:sp>
        <p:nvSpPr>
          <p:cNvPr id="10" name="Shape 8"/>
          <p:cNvSpPr/>
          <p:nvPr/>
        </p:nvSpPr>
        <p:spPr>
          <a:xfrm>
            <a:off x="548640" y="370332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1" name="Text 9"/>
          <p:cNvSpPr txBox="1"/>
          <p:nvPr/>
        </p:nvSpPr>
        <p:spPr>
          <a:xfrm>
            <a:off x="548640" y="370332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03</a:t>
            </a:r>
            <a:endParaRPr lang="en-US" sz="1100" dirty="0"/>
          </a:p>
        </p:txBody>
      </p:sp>
      <p:sp>
        <p:nvSpPr>
          <p:cNvPr id="12" name="Text 10"/>
          <p:cNvSpPr txBox="1"/>
          <p:nvPr/>
        </p:nvSpPr>
        <p:spPr>
          <a:xfrm>
            <a:off x="1133856" y="3657600"/>
            <a:ext cx="5449824" cy="77724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Admins: grant Barber or Admin roles on a Staff accounts page, with an audit log.</a:t>
            </a:r>
            <a:endParaRPr lang="en-US" sz="1400" dirty="0"/>
          </a:p>
        </p:txBody>
      </p:sp>
      <p:sp>
        <p:nvSpPr>
          <p:cNvPr id="13" name="Shape 11"/>
          <p:cNvSpPr/>
          <p:nvPr/>
        </p:nvSpPr>
        <p:spPr>
          <a:xfrm>
            <a:off x="548640" y="4572000"/>
            <a:ext cx="2697480" cy="1920240"/>
          </a:xfrm>
          <a:prstGeom prst="roundRect">
            <a:avLst>
              <a:gd name="adj" fmla="val 5714"/>
            </a:avLst>
          </a:prstGeom>
          <a:solidFill>
            <a:srgbClr val="E8E3D8"/>
          </a:solidFill>
          <a:ln w="12700">
            <a:solidFill>
              <a:srgbClr val="C9BFA8"/>
            </a:solidFill>
            <a:prstDash val="dash"/>
          </a:ln>
        </p:spPr>
        <p:txBody>
          <a:bodyPr/>
          <a:lstStyle/>
          <a:p>
            <a:endParaRPr lang="en-ZA"/>
          </a:p>
        </p:txBody>
      </p:sp>
      <p:sp>
        <p:nvSpPr>
          <p:cNvPr id="14" name="Text 12"/>
          <p:cNvSpPr txBox="1"/>
          <p:nvPr/>
        </p:nvSpPr>
        <p:spPr>
          <a:xfrm>
            <a:off x="548640" y="4572000"/>
            <a:ext cx="2697480" cy="192024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1100" dirty="0"/>
          </a:p>
        </p:txBody>
      </p:sp>
      <p:sp>
        <p:nvSpPr>
          <p:cNvPr id="15" name="Shape 13"/>
          <p:cNvSpPr/>
          <p:nvPr/>
        </p:nvSpPr>
        <p:spPr>
          <a:xfrm>
            <a:off x="3520440" y="4572000"/>
            <a:ext cx="2697480" cy="1920240"/>
          </a:xfrm>
          <a:prstGeom prst="roundRect">
            <a:avLst>
              <a:gd name="adj" fmla="val 5714"/>
            </a:avLst>
          </a:prstGeom>
          <a:solidFill>
            <a:srgbClr val="E8E3D8"/>
          </a:solidFill>
          <a:ln w="12700">
            <a:solidFill>
              <a:srgbClr val="C9BFA8"/>
            </a:solidFill>
            <a:prstDash val="dash"/>
          </a:ln>
        </p:spPr>
        <p:txBody>
          <a:bodyPr/>
          <a:lstStyle/>
          <a:p>
            <a:endParaRPr lang="en-ZA"/>
          </a:p>
        </p:txBody>
      </p:sp>
      <p:sp>
        <p:nvSpPr>
          <p:cNvPr id="16" name="Text 14"/>
          <p:cNvSpPr txBox="1"/>
          <p:nvPr/>
        </p:nvSpPr>
        <p:spPr>
          <a:xfrm>
            <a:off x="3520440" y="4572000"/>
            <a:ext cx="2697480" cy="1920240"/>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p:spPr>
        <p:txBody>
          <a:bodyPr wrap="square" lIns="0" tIns="0" rIns="0" bIns="0" rtlCol="0" anchor="ctr"/>
          <a:lstStyle/>
          <a:p>
            <a:pPr marL="0" indent="0" algn="ctr">
              <a:buNone/>
            </a:pPr>
            <a:endParaRPr lang="en-US" sz="1100" dirty="0"/>
          </a:p>
        </p:txBody>
      </p:sp>
      <p:sp>
        <p:nvSpPr>
          <p:cNvPr id="17" name="Text 15"/>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8" name="Text 16"/>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SYSTEM DESIGN</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Architecture</a:t>
            </a:r>
            <a:endParaRPr lang="en-US" sz="3000" dirty="0"/>
          </a:p>
        </p:txBody>
      </p:sp>
      <p:sp>
        <p:nvSpPr>
          <p:cNvPr id="4" name="Shape 2"/>
          <p:cNvSpPr/>
          <p:nvPr/>
        </p:nvSpPr>
        <p:spPr>
          <a:xfrm>
            <a:off x="548640" y="2103120"/>
            <a:ext cx="1554480" cy="777240"/>
          </a:xfrm>
          <a:prstGeom prst="roundRect">
            <a:avLst>
              <a:gd name="adj" fmla="val 11765"/>
            </a:avLst>
          </a:prstGeom>
          <a:solidFill>
            <a:srgbClr val="E8E3D8"/>
          </a:solidFill>
          <a:ln w="12700">
            <a:solidFill>
              <a:srgbClr val="C9BFA8"/>
            </a:solidFill>
            <a:prstDash val="solid"/>
          </a:ln>
        </p:spPr>
        <p:txBody>
          <a:bodyPr/>
          <a:lstStyle/>
          <a:p>
            <a:endParaRPr lang="en-ZA"/>
          </a:p>
        </p:txBody>
      </p:sp>
      <p:sp>
        <p:nvSpPr>
          <p:cNvPr id="5" name="Text 3"/>
          <p:cNvSpPr txBox="1"/>
          <p:nvPr/>
        </p:nvSpPr>
        <p:spPr>
          <a:xfrm>
            <a:off x="548640" y="2103120"/>
            <a:ext cx="1554480" cy="77724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Browser</a:t>
            </a:r>
            <a:endParaRPr lang="en-US" sz="1300" dirty="0"/>
          </a:p>
        </p:txBody>
      </p:sp>
      <p:sp>
        <p:nvSpPr>
          <p:cNvPr id="6" name="Shape 4"/>
          <p:cNvSpPr/>
          <p:nvPr/>
        </p:nvSpPr>
        <p:spPr>
          <a:xfrm>
            <a:off x="2651760" y="2103120"/>
            <a:ext cx="2103120" cy="777240"/>
          </a:xfrm>
          <a:prstGeom prst="roundRect">
            <a:avLst>
              <a:gd name="adj" fmla="val 11765"/>
            </a:avLst>
          </a:prstGeom>
          <a:solidFill>
            <a:srgbClr val="7C3626"/>
          </a:solidFill>
          <a:ln w="12700">
            <a:solidFill>
              <a:srgbClr val="C9BFA8"/>
            </a:solidFill>
            <a:prstDash val="solid"/>
          </a:ln>
        </p:spPr>
        <p:txBody>
          <a:bodyPr/>
          <a:lstStyle/>
          <a:p>
            <a:endParaRPr lang="en-ZA"/>
          </a:p>
        </p:txBody>
      </p:sp>
      <p:sp>
        <p:nvSpPr>
          <p:cNvPr id="7" name="Text 5"/>
          <p:cNvSpPr txBox="1"/>
          <p:nvPr/>
        </p:nvSpPr>
        <p:spPr>
          <a:xfrm>
            <a:off x="2651760" y="2103120"/>
            <a:ext cx="2103120" cy="777240"/>
          </a:xfrm>
          <a:prstGeom prst="rect">
            <a:avLst/>
          </a:prstGeom>
          <a:noFill/>
          <a:ln/>
        </p:spPr>
        <p:txBody>
          <a:bodyPr wrap="square" lIns="0" tIns="0" rIns="0" bIns="0" rtlCol="0" anchor="ctr"/>
          <a:lstStyle/>
          <a:p>
            <a:pPr marL="0" indent="0" algn="ctr">
              <a:buNone/>
            </a:pPr>
            <a:r>
              <a:rPr lang="en-US" sz="1300" b="1" dirty="0">
                <a:solidFill>
                  <a:srgbClr val="F3EAE3"/>
                </a:solidFill>
                <a:latin typeface="Outfit" pitchFamily="34" charset="0"/>
                <a:ea typeface="Outfit" pitchFamily="34" charset="-122"/>
                <a:cs typeface="Outfit" pitchFamily="34" charset="-120"/>
              </a:rPr>
              <a:t>Kinsmen.Web</a:t>
            </a:r>
            <a:endParaRPr lang="en-US" sz="1300" dirty="0"/>
          </a:p>
          <a:p>
            <a:pPr marL="0" indent="0" algn="ctr">
              <a:buNone/>
            </a:pPr>
            <a:r>
              <a:rPr lang="en-US" sz="900" dirty="0">
                <a:solidFill>
                  <a:srgbClr val="F3EAE3"/>
                </a:solidFill>
                <a:latin typeface="JetBrains Mono" pitchFamily="34" charset="0"/>
                <a:ea typeface="JetBrains Mono" pitchFamily="34" charset="-122"/>
                <a:cs typeface="JetBrains Mono" pitchFamily="34" charset="-120"/>
              </a:rPr>
              <a:t>ASP.NET Core MVC · Render</a:t>
            </a:r>
            <a:endParaRPr lang="en-US" sz="1300" dirty="0"/>
          </a:p>
        </p:txBody>
      </p:sp>
      <p:sp>
        <p:nvSpPr>
          <p:cNvPr id="8" name="Shape 6"/>
          <p:cNvSpPr/>
          <p:nvPr/>
        </p:nvSpPr>
        <p:spPr>
          <a:xfrm>
            <a:off x="5303520" y="2103120"/>
            <a:ext cx="2103120" cy="777240"/>
          </a:xfrm>
          <a:prstGeom prst="roundRect">
            <a:avLst>
              <a:gd name="adj" fmla="val 11765"/>
            </a:avLst>
          </a:prstGeom>
          <a:solidFill>
            <a:srgbClr val="1F5C57"/>
          </a:solidFill>
          <a:ln w="12700">
            <a:solidFill>
              <a:srgbClr val="C9BFA8"/>
            </a:solidFill>
            <a:prstDash val="solid"/>
          </a:ln>
        </p:spPr>
        <p:txBody>
          <a:bodyPr/>
          <a:lstStyle/>
          <a:p>
            <a:endParaRPr lang="en-ZA"/>
          </a:p>
        </p:txBody>
      </p:sp>
      <p:sp>
        <p:nvSpPr>
          <p:cNvPr id="9" name="Text 7"/>
          <p:cNvSpPr txBox="1"/>
          <p:nvPr/>
        </p:nvSpPr>
        <p:spPr>
          <a:xfrm>
            <a:off x="5303520" y="2103120"/>
            <a:ext cx="2103120" cy="777240"/>
          </a:xfrm>
          <a:prstGeom prst="rect">
            <a:avLst/>
          </a:prstGeom>
          <a:noFill/>
          <a:ln/>
        </p:spPr>
        <p:txBody>
          <a:bodyPr wrap="square" lIns="0" tIns="0" rIns="0" bIns="0" rtlCol="0" anchor="ctr"/>
          <a:lstStyle/>
          <a:p>
            <a:pPr marL="0" indent="0" algn="ctr">
              <a:buNone/>
            </a:pPr>
            <a:r>
              <a:rPr lang="en-US" sz="1300" b="1" dirty="0">
                <a:solidFill>
                  <a:srgbClr val="F3EAE3"/>
                </a:solidFill>
                <a:latin typeface="Outfit" pitchFamily="34" charset="0"/>
                <a:ea typeface="Outfit" pitchFamily="34" charset="-122"/>
                <a:cs typeface="Outfit" pitchFamily="34" charset="-120"/>
              </a:rPr>
              <a:t>Kinsmen.Api</a:t>
            </a:r>
            <a:endParaRPr lang="en-US" sz="1300" dirty="0"/>
          </a:p>
          <a:p>
            <a:pPr marL="0" indent="0" algn="ctr">
              <a:buNone/>
            </a:pPr>
            <a:r>
              <a:rPr lang="en-US" sz="900" dirty="0">
                <a:solidFill>
                  <a:srgbClr val="F3EAE3"/>
                </a:solidFill>
                <a:latin typeface="JetBrains Mono" pitchFamily="34" charset="0"/>
                <a:ea typeface="JetBrains Mono" pitchFamily="34" charset="-122"/>
                <a:cs typeface="JetBrains Mono" pitchFamily="34" charset="-120"/>
              </a:rPr>
              <a:t>ASP.NET Core · Render</a:t>
            </a:r>
            <a:endParaRPr lang="en-US" sz="1300" dirty="0"/>
          </a:p>
        </p:txBody>
      </p:sp>
      <p:sp>
        <p:nvSpPr>
          <p:cNvPr id="10" name="Shape 8"/>
          <p:cNvSpPr/>
          <p:nvPr/>
        </p:nvSpPr>
        <p:spPr>
          <a:xfrm>
            <a:off x="2103120" y="2491740"/>
            <a:ext cx="548640" cy="9144"/>
          </a:xfrm>
          <a:prstGeom prst="line">
            <a:avLst/>
          </a:prstGeom>
          <a:noFill/>
          <a:ln w="19050">
            <a:solidFill>
              <a:srgbClr val="726C5E"/>
            </a:solidFill>
            <a:prstDash val="solid"/>
            <a:tailEnd type="triangle"/>
          </a:ln>
        </p:spPr>
        <p:txBody>
          <a:bodyPr/>
          <a:lstStyle/>
          <a:p>
            <a:endParaRPr lang="en-ZA"/>
          </a:p>
        </p:txBody>
      </p:sp>
      <p:sp>
        <p:nvSpPr>
          <p:cNvPr id="11" name="Shape 9"/>
          <p:cNvSpPr/>
          <p:nvPr/>
        </p:nvSpPr>
        <p:spPr>
          <a:xfrm>
            <a:off x="4754880" y="2491740"/>
            <a:ext cx="548640" cy="9144"/>
          </a:xfrm>
          <a:prstGeom prst="line">
            <a:avLst/>
          </a:prstGeom>
          <a:noFill/>
          <a:ln w="19050">
            <a:solidFill>
              <a:srgbClr val="726C5E"/>
            </a:solidFill>
            <a:prstDash val="solid"/>
            <a:tailEnd type="triangle"/>
          </a:ln>
        </p:spPr>
        <p:txBody>
          <a:bodyPr/>
          <a:lstStyle/>
          <a:p>
            <a:endParaRPr lang="en-ZA"/>
          </a:p>
        </p:txBody>
      </p:sp>
      <p:sp>
        <p:nvSpPr>
          <p:cNvPr id="12" name="Shape 10"/>
          <p:cNvSpPr/>
          <p:nvPr/>
        </p:nvSpPr>
        <p:spPr>
          <a:xfrm>
            <a:off x="548640" y="3474720"/>
            <a:ext cx="1554480" cy="685800"/>
          </a:xfrm>
          <a:prstGeom prst="roundRect">
            <a:avLst>
              <a:gd name="adj" fmla="val 13333"/>
            </a:avLst>
          </a:prstGeom>
          <a:solidFill>
            <a:srgbClr val="E8E3D8"/>
          </a:solidFill>
          <a:ln w="12700">
            <a:solidFill>
              <a:srgbClr val="C9BFA8"/>
            </a:solidFill>
            <a:prstDash val="solid"/>
          </a:ln>
        </p:spPr>
        <p:txBody>
          <a:bodyPr/>
          <a:lstStyle/>
          <a:p>
            <a:endParaRPr lang="en-ZA"/>
          </a:p>
        </p:txBody>
      </p:sp>
      <p:sp>
        <p:nvSpPr>
          <p:cNvPr id="13" name="Text 11"/>
          <p:cNvSpPr txBox="1"/>
          <p:nvPr/>
        </p:nvSpPr>
        <p:spPr>
          <a:xfrm>
            <a:off x="548640" y="3474720"/>
            <a:ext cx="1554480" cy="68580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Auth0</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sign-in</a:t>
            </a:r>
            <a:endParaRPr lang="en-US" sz="1300" dirty="0"/>
          </a:p>
        </p:txBody>
      </p:sp>
      <p:sp>
        <p:nvSpPr>
          <p:cNvPr id="14" name="Shape 12"/>
          <p:cNvSpPr/>
          <p:nvPr/>
        </p:nvSpPr>
        <p:spPr>
          <a:xfrm>
            <a:off x="1325880" y="2103120"/>
            <a:ext cx="9144" cy="1371600"/>
          </a:xfrm>
          <a:prstGeom prst="line">
            <a:avLst/>
          </a:prstGeom>
          <a:noFill/>
          <a:ln w="19050">
            <a:solidFill>
              <a:srgbClr val="726C5E"/>
            </a:solidFill>
            <a:prstDash val="solid"/>
            <a:tailEnd type="triangle"/>
          </a:ln>
        </p:spPr>
        <p:txBody>
          <a:bodyPr/>
          <a:lstStyle/>
          <a:p>
            <a:endParaRPr lang="en-ZA"/>
          </a:p>
        </p:txBody>
      </p:sp>
      <p:sp>
        <p:nvSpPr>
          <p:cNvPr id="15" name="Shape 13"/>
          <p:cNvSpPr/>
          <p:nvPr/>
        </p:nvSpPr>
        <p:spPr>
          <a:xfrm>
            <a:off x="4389120" y="3886200"/>
            <a:ext cx="1737360" cy="685800"/>
          </a:xfrm>
          <a:prstGeom prst="roundRect">
            <a:avLst>
              <a:gd name="adj" fmla="val 13333"/>
            </a:avLst>
          </a:prstGeom>
          <a:solidFill>
            <a:srgbClr val="E8E3D8"/>
          </a:solidFill>
          <a:ln w="12700">
            <a:solidFill>
              <a:srgbClr val="C9BFA8"/>
            </a:solidFill>
            <a:prstDash val="solid"/>
          </a:ln>
        </p:spPr>
        <p:txBody>
          <a:bodyPr/>
          <a:lstStyle/>
          <a:p>
            <a:endParaRPr lang="en-ZA"/>
          </a:p>
        </p:txBody>
      </p:sp>
      <p:sp>
        <p:nvSpPr>
          <p:cNvPr id="16" name="Text 14"/>
          <p:cNvSpPr txBox="1"/>
          <p:nvPr/>
        </p:nvSpPr>
        <p:spPr>
          <a:xfrm>
            <a:off x="4389120" y="3886200"/>
            <a:ext cx="1737360" cy="68580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MongoDB Atlas</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Cape Town</a:t>
            </a:r>
            <a:endParaRPr lang="en-US" sz="1300" dirty="0"/>
          </a:p>
        </p:txBody>
      </p:sp>
      <p:sp>
        <p:nvSpPr>
          <p:cNvPr id="17" name="Shape 15"/>
          <p:cNvSpPr/>
          <p:nvPr/>
        </p:nvSpPr>
        <p:spPr>
          <a:xfrm>
            <a:off x="6309360" y="3886200"/>
            <a:ext cx="1280160" cy="685800"/>
          </a:xfrm>
          <a:prstGeom prst="roundRect">
            <a:avLst>
              <a:gd name="adj" fmla="val 13333"/>
            </a:avLst>
          </a:prstGeom>
          <a:solidFill>
            <a:srgbClr val="E8E3D8"/>
          </a:solidFill>
          <a:ln w="12700">
            <a:solidFill>
              <a:srgbClr val="C9BFA8"/>
            </a:solidFill>
            <a:prstDash val="solid"/>
          </a:ln>
        </p:spPr>
        <p:txBody>
          <a:bodyPr/>
          <a:lstStyle/>
          <a:p>
            <a:endParaRPr lang="en-ZA"/>
          </a:p>
        </p:txBody>
      </p:sp>
      <p:sp>
        <p:nvSpPr>
          <p:cNvPr id="18" name="Text 16"/>
          <p:cNvSpPr txBox="1"/>
          <p:nvPr/>
        </p:nvSpPr>
        <p:spPr>
          <a:xfrm>
            <a:off x="6309360" y="3886200"/>
            <a:ext cx="1280160" cy="68580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Brevo</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emails</a:t>
            </a:r>
            <a:endParaRPr lang="en-US" sz="1300" dirty="0"/>
          </a:p>
        </p:txBody>
      </p:sp>
      <p:sp>
        <p:nvSpPr>
          <p:cNvPr id="19" name="Shape 17"/>
          <p:cNvSpPr/>
          <p:nvPr/>
        </p:nvSpPr>
        <p:spPr>
          <a:xfrm>
            <a:off x="7772400" y="3886200"/>
            <a:ext cx="1463040" cy="685800"/>
          </a:xfrm>
          <a:prstGeom prst="roundRect">
            <a:avLst>
              <a:gd name="adj" fmla="val 13333"/>
            </a:avLst>
          </a:prstGeom>
          <a:solidFill>
            <a:srgbClr val="E8E3D8"/>
          </a:solidFill>
          <a:ln w="12700">
            <a:solidFill>
              <a:srgbClr val="C9BFA8"/>
            </a:solidFill>
            <a:prstDash val="solid"/>
          </a:ln>
        </p:spPr>
        <p:txBody>
          <a:bodyPr/>
          <a:lstStyle/>
          <a:p>
            <a:endParaRPr lang="en-ZA"/>
          </a:p>
        </p:txBody>
      </p:sp>
      <p:sp>
        <p:nvSpPr>
          <p:cNvPr id="20" name="Text 18"/>
          <p:cNvSpPr txBox="1"/>
          <p:nvPr/>
        </p:nvSpPr>
        <p:spPr>
          <a:xfrm>
            <a:off x="7772400" y="3886200"/>
            <a:ext cx="1463040" cy="68580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Auth0</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token check</a:t>
            </a:r>
            <a:endParaRPr lang="en-US" sz="1300" dirty="0"/>
          </a:p>
        </p:txBody>
      </p:sp>
      <p:sp>
        <p:nvSpPr>
          <p:cNvPr id="21" name="Shape 19"/>
          <p:cNvSpPr/>
          <p:nvPr/>
        </p:nvSpPr>
        <p:spPr>
          <a:xfrm flipH="1">
            <a:off x="5212080" y="2880360"/>
            <a:ext cx="548640" cy="1005840"/>
          </a:xfrm>
          <a:prstGeom prst="line">
            <a:avLst/>
          </a:prstGeom>
          <a:noFill/>
          <a:ln w="19050">
            <a:solidFill>
              <a:srgbClr val="726C5E"/>
            </a:solidFill>
            <a:prstDash val="solid"/>
            <a:tailEnd type="triangle"/>
          </a:ln>
        </p:spPr>
        <p:txBody>
          <a:bodyPr/>
          <a:lstStyle/>
          <a:p>
            <a:endParaRPr lang="en-ZA"/>
          </a:p>
        </p:txBody>
      </p:sp>
      <p:sp>
        <p:nvSpPr>
          <p:cNvPr id="22" name="Shape 20"/>
          <p:cNvSpPr/>
          <p:nvPr/>
        </p:nvSpPr>
        <p:spPr>
          <a:xfrm>
            <a:off x="6355080" y="2880360"/>
            <a:ext cx="502920" cy="1005840"/>
          </a:xfrm>
          <a:prstGeom prst="line">
            <a:avLst/>
          </a:prstGeom>
          <a:noFill/>
          <a:ln w="19050">
            <a:solidFill>
              <a:srgbClr val="726C5E"/>
            </a:solidFill>
            <a:prstDash val="solid"/>
            <a:tailEnd type="triangle"/>
          </a:ln>
        </p:spPr>
        <p:txBody>
          <a:bodyPr/>
          <a:lstStyle/>
          <a:p>
            <a:endParaRPr lang="en-ZA"/>
          </a:p>
        </p:txBody>
      </p:sp>
      <p:sp>
        <p:nvSpPr>
          <p:cNvPr id="23" name="Shape 21"/>
          <p:cNvSpPr/>
          <p:nvPr/>
        </p:nvSpPr>
        <p:spPr>
          <a:xfrm>
            <a:off x="6949440" y="2880360"/>
            <a:ext cx="1280160" cy="1005840"/>
          </a:xfrm>
          <a:prstGeom prst="line">
            <a:avLst/>
          </a:prstGeom>
          <a:noFill/>
          <a:ln w="19050">
            <a:solidFill>
              <a:srgbClr val="726C5E"/>
            </a:solidFill>
            <a:prstDash val="solid"/>
            <a:tailEnd type="triangle"/>
          </a:ln>
        </p:spPr>
        <p:txBody>
          <a:bodyPr/>
          <a:lstStyle/>
          <a:p>
            <a:endParaRPr lang="en-ZA"/>
          </a:p>
        </p:txBody>
      </p:sp>
      <p:sp>
        <p:nvSpPr>
          <p:cNvPr id="24" name="Shape 22"/>
          <p:cNvSpPr/>
          <p:nvPr/>
        </p:nvSpPr>
        <p:spPr>
          <a:xfrm>
            <a:off x="9052560" y="2011680"/>
            <a:ext cx="2560320" cy="960120"/>
          </a:xfrm>
          <a:prstGeom prst="roundRect">
            <a:avLst>
              <a:gd name="adj" fmla="val 9524"/>
            </a:avLst>
          </a:prstGeom>
          <a:solidFill>
            <a:srgbClr val="E8E3D8"/>
          </a:solidFill>
          <a:ln w="12700">
            <a:solidFill>
              <a:srgbClr val="C9BFA8"/>
            </a:solidFill>
            <a:prstDash val="solid"/>
          </a:ln>
        </p:spPr>
        <p:txBody>
          <a:bodyPr/>
          <a:lstStyle/>
          <a:p>
            <a:endParaRPr lang="en-ZA"/>
          </a:p>
        </p:txBody>
      </p:sp>
      <p:sp>
        <p:nvSpPr>
          <p:cNvPr id="25" name="Text 23"/>
          <p:cNvSpPr txBox="1"/>
          <p:nvPr/>
        </p:nvSpPr>
        <p:spPr>
          <a:xfrm>
            <a:off x="9052560" y="2011680"/>
            <a:ext cx="2560320" cy="960120"/>
          </a:xfrm>
          <a:prstGeom prst="rect">
            <a:avLst/>
          </a:prstGeom>
          <a:noFill/>
          <a:ln/>
        </p:spPr>
        <p:txBody>
          <a:bodyPr wrap="square" lIns="0" tIns="0" rIns="0" bIns="0" rtlCol="0" anchor="ctr"/>
          <a:lstStyle/>
          <a:p>
            <a:pPr marL="0" indent="0" algn="ctr">
              <a:buNone/>
            </a:pPr>
            <a:r>
              <a:rPr lang="en-US" sz="1200" b="1" dirty="0">
                <a:solidFill>
                  <a:srgbClr val="55503F"/>
                </a:solidFill>
                <a:latin typeface="Outfit" pitchFamily="34" charset="0"/>
                <a:ea typeface="Outfit" pitchFamily="34" charset="-122"/>
                <a:cs typeface="Outfit" pitchFamily="34" charset="-120"/>
              </a:rPr>
              <a:t>GitHub + Actions</a:t>
            </a:r>
            <a:endParaRPr lang="en-US" sz="12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deploys to Render when checks pass</a:t>
            </a:r>
            <a:endParaRPr lang="en-US" sz="1200" dirty="0"/>
          </a:p>
        </p:txBody>
      </p:sp>
      <p:sp>
        <p:nvSpPr>
          <p:cNvPr id="26" name="Shape 24"/>
          <p:cNvSpPr/>
          <p:nvPr/>
        </p:nvSpPr>
        <p:spPr>
          <a:xfrm flipH="1">
            <a:off x="7406640" y="2468880"/>
            <a:ext cx="1645920" cy="9144"/>
          </a:xfrm>
          <a:prstGeom prst="line">
            <a:avLst/>
          </a:prstGeom>
          <a:noFill/>
          <a:ln w="19050">
            <a:solidFill>
              <a:srgbClr val="9C6B22"/>
            </a:solidFill>
            <a:prstDash val="solid"/>
            <a:tailEnd type="triangle"/>
          </a:ln>
        </p:spPr>
        <p:txBody>
          <a:bodyPr/>
          <a:lstStyle/>
          <a:p>
            <a:endParaRPr lang="en-ZA"/>
          </a:p>
        </p:txBody>
      </p:sp>
      <p:sp>
        <p:nvSpPr>
          <p:cNvPr id="27" name="Shape 25"/>
          <p:cNvSpPr/>
          <p:nvPr/>
        </p:nvSpPr>
        <p:spPr>
          <a:xfrm>
            <a:off x="548640" y="5257800"/>
            <a:ext cx="11094415" cy="685800"/>
          </a:xfrm>
          <a:prstGeom prst="roundRect">
            <a:avLst>
              <a:gd name="adj" fmla="val 13333"/>
            </a:avLst>
          </a:prstGeom>
          <a:solidFill>
            <a:srgbClr val="9C6B22"/>
          </a:solidFill>
          <a:ln/>
        </p:spPr>
        <p:txBody>
          <a:bodyPr/>
          <a:lstStyle/>
          <a:p>
            <a:endParaRPr lang="en-ZA"/>
          </a:p>
        </p:txBody>
      </p:sp>
      <p:sp>
        <p:nvSpPr>
          <p:cNvPr id="28" name="Text 26"/>
          <p:cNvSpPr txBox="1"/>
          <p:nvPr/>
        </p:nvSpPr>
        <p:spPr>
          <a:xfrm>
            <a:off x="822960" y="5257800"/>
            <a:ext cx="10545775" cy="685800"/>
          </a:xfrm>
          <a:prstGeom prst="rect">
            <a:avLst/>
          </a:prstGeom>
          <a:noFill/>
          <a:ln/>
        </p:spPr>
        <p:txBody>
          <a:bodyPr wrap="square" lIns="0" tIns="0" rIns="0" bIns="0" rtlCol="0" anchor="ctr"/>
          <a:lstStyle/>
          <a:p>
            <a:pPr marL="0" indent="0" algn="ctr">
              <a:lnSpc>
                <a:spcPct val="110000"/>
              </a:lnSpc>
              <a:buNone/>
            </a:pPr>
            <a:r>
              <a:rPr lang="en-US" sz="1500" b="1" dirty="0">
                <a:solidFill>
                  <a:srgbClr val="F3EAE3"/>
                </a:solidFill>
                <a:latin typeface="Inter" pitchFamily="34" charset="0"/>
                <a:ea typeface="Inter" pitchFamily="34" charset="-122"/>
                <a:cs typeface="Inter" pitchFamily="34" charset="-120"/>
              </a:rPr>
              <a:t>Browsers never call the API directly — the API enforces every rule.</a:t>
            </a:r>
            <a:endParaRPr lang="en-US" sz="1500" dirty="0"/>
          </a:p>
        </p:txBody>
      </p:sp>
      <p:sp>
        <p:nvSpPr>
          <p:cNvPr id="29" name="Text 27"/>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30" name="Text 28"/>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TECHNOLOGY</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What changed since Part 1</a:t>
            </a:r>
            <a:endParaRPr lang="en-US" sz="3000" dirty="0"/>
          </a:p>
        </p:txBody>
      </p:sp>
      <p:sp>
        <p:nvSpPr>
          <p:cNvPr id="4" name="Shape 2"/>
          <p:cNvSpPr/>
          <p:nvPr/>
        </p:nvSpPr>
        <p:spPr>
          <a:xfrm>
            <a:off x="548640" y="1828800"/>
            <a:ext cx="11094415" cy="548640"/>
          </a:xfrm>
          <a:prstGeom prst="roundRect">
            <a:avLst>
              <a:gd name="adj" fmla="val 16667"/>
            </a:avLst>
          </a:prstGeom>
          <a:solidFill>
            <a:srgbClr val="E8E3D8"/>
          </a:solidFill>
          <a:ln/>
        </p:spPr>
        <p:txBody>
          <a:bodyPr/>
          <a:lstStyle/>
          <a:p>
            <a:endParaRPr lang="en-ZA"/>
          </a:p>
        </p:txBody>
      </p:sp>
      <p:sp>
        <p:nvSpPr>
          <p:cNvPr id="5" name="Text 3"/>
          <p:cNvSpPr txBox="1"/>
          <p:nvPr/>
        </p:nvSpPr>
        <p:spPr>
          <a:xfrm>
            <a:off x="822960" y="1828800"/>
            <a:ext cx="10545775" cy="548640"/>
          </a:xfrm>
          <a:prstGeom prst="rect">
            <a:avLst/>
          </a:prstGeom>
          <a:noFill/>
          <a:ln/>
        </p:spPr>
        <p:txBody>
          <a:bodyPr wrap="square" lIns="0" tIns="0" rIns="0" bIns="0" rtlCol="0" anchor="ctr"/>
          <a:lstStyle/>
          <a:p>
            <a:pPr marL="0" indent="0" algn="l">
              <a:lnSpc>
                <a:spcPct val="110000"/>
              </a:lnSpc>
              <a:buNone/>
            </a:pPr>
            <a:r>
              <a:rPr lang="en-US" sz="1200" dirty="0">
                <a:solidFill>
                  <a:srgbClr val="55503F"/>
                </a:solidFill>
                <a:latin typeface="JetBrains Mono" pitchFamily="34" charset="0"/>
                <a:ea typeface="JetBrains Mono" pitchFamily="34" charset="-122"/>
                <a:cs typeface="JetBrains Mono" pitchFamily="34" charset="-120"/>
              </a:rPr>
              <a:t>PART 1 PLAN:  SQL Server + Entity Framework  ·  Azure  ·  Custom accounts</a:t>
            </a:r>
            <a:endParaRPr lang="en-US" sz="1200" dirty="0"/>
          </a:p>
        </p:txBody>
      </p:sp>
      <p:sp>
        <p:nvSpPr>
          <p:cNvPr id="6" name="Shape 4"/>
          <p:cNvSpPr/>
          <p:nvPr/>
        </p:nvSpPr>
        <p:spPr>
          <a:xfrm>
            <a:off x="548640" y="2514600"/>
            <a:ext cx="11094415" cy="548640"/>
          </a:xfrm>
          <a:prstGeom prst="roundRect">
            <a:avLst>
              <a:gd name="adj" fmla="val 16667"/>
            </a:avLst>
          </a:prstGeom>
          <a:solidFill>
            <a:srgbClr val="1F5C57"/>
          </a:solidFill>
          <a:ln/>
        </p:spPr>
        <p:txBody>
          <a:bodyPr/>
          <a:lstStyle/>
          <a:p>
            <a:endParaRPr lang="en-ZA"/>
          </a:p>
        </p:txBody>
      </p:sp>
      <p:sp>
        <p:nvSpPr>
          <p:cNvPr id="7" name="Text 5"/>
          <p:cNvSpPr txBox="1"/>
          <p:nvPr/>
        </p:nvSpPr>
        <p:spPr>
          <a:xfrm>
            <a:off x="822960" y="2514600"/>
            <a:ext cx="10545775" cy="548640"/>
          </a:xfrm>
          <a:prstGeom prst="rect">
            <a:avLst/>
          </a:prstGeom>
          <a:noFill/>
          <a:ln/>
        </p:spPr>
        <p:txBody>
          <a:bodyPr wrap="square" lIns="0" tIns="0" rIns="0" bIns="0" rtlCol="0" anchor="ctr"/>
          <a:lstStyle/>
          <a:p>
            <a:pPr marL="0" indent="0" algn="l">
              <a:lnSpc>
                <a:spcPct val="110000"/>
              </a:lnSpc>
              <a:buNone/>
            </a:pPr>
            <a:r>
              <a:rPr lang="en-US" sz="1200" dirty="0">
                <a:solidFill>
                  <a:srgbClr val="F3EAE3"/>
                </a:solidFill>
                <a:latin typeface="JetBrains Mono" pitchFamily="34" charset="0"/>
                <a:ea typeface="JetBrains Mono" pitchFamily="34" charset="-122"/>
                <a:cs typeface="JetBrains Mono" pitchFamily="34" charset="-120"/>
              </a:rPr>
              <a:t>PART 2 BUILD:  MongoDB Atlas · Auth0 · Render (Docker) · Brevo · GitHub Actions — still C# / .NET 10</a:t>
            </a:r>
            <a:endParaRPr lang="en-US" sz="1200" dirty="0"/>
          </a:p>
        </p:txBody>
      </p:sp>
      <p:sp>
        <p:nvSpPr>
          <p:cNvPr id="8" name="Shape 6"/>
          <p:cNvSpPr/>
          <p:nvPr/>
        </p:nvSpPr>
        <p:spPr>
          <a:xfrm>
            <a:off x="548640" y="333756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9" name="Text 7"/>
          <p:cNvSpPr txBox="1"/>
          <p:nvPr/>
        </p:nvSpPr>
        <p:spPr>
          <a:xfrm>
            <a:off x="548640" y="333756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10" name="Text 8"/>
          <p:cNvSpPr txBox="1"/>
          <p:nvPr/>
        </p:nvSpPr>
        <p:spPr>
          <a:xfrm>
            <a:off x="1133856" y="3291840"/>
            <a:ext cx="10509199" cy="91440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Why: free tiers, no stored passwords, multi-document transactions, Render's free tier blocks SMTP (hence Brevo's HTTPS API).</a:t>
            </a:r>
            <a:endParaRPr lang="en-US" sz="1400" dirty="0"/>
          </a:p>
        </p:txBody>
      </p:sp>
      <p:sp>
        <p:nvSpPr>
          <p:cNvPr id="11" name="Shape 9"/>
          <p:cNvSpPr/>
          <p:nvPr/>
        </p:nvSpPr>
        <p:spPr>
          <a:xfrm>
            <a:off x="548640" y="443484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2" name="Text 10"/>
          <p:cNvSpPr txBox="1"/>
          <p:nvPr/>
        </p:nvSpPr>
        <p:spPr>
          <a:xfrm>
            <a:off x="548640" y="443484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13" name="Text 11"/>
          <p:cNvSpPr txBox="1"/>
          <p:nvPr/>
        </p:nvSpPr>
        <p:spPr>
          <a:xfrm>
            <a:off x="1133856" y="4389120"/>
            <a:ext cx="10509199" cy="73152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Design patterns actually used: dependency injection, repository abstraction, unit-of-work transactions.</a:t>
            </a:r>
            <a:endParaRPr lang="en-US" sz="1400" dirty="0"/>
          </a:p>
        </p:txBody>
      </p:sp>
      <p:sp>
        <p:nvSpPr>
          <p:cNvPr id="14" name="Shape 12"/>
          <p:cNvSpPr/>
          <p:nvPr/>
        </p:nvSpPr>
        <p:spPr>
          <a:xfrm>
            <a:off x="548640" y="5257800"/>
            <a:ext cx="11094415" cy="502920"/>
          </a:xfrm>
          <a:prstGeom prst="roundRect">
            <a:avLst>
              <a:gd name="adj" fmla="val 18182"/>
            </a:avLst>
          </a:prstGeom>
          <a:solidFill>
            <a:srgbClr val="E8E3D8"/>
          </a:solidFill>
          <a:ln/>
        </p:spPr>
        <p:txBody>
          <a:bodyPr/>
          <a:lstStyle/>
          <a:p>
            <a:endParaRPr lang="en-ZA"/>
          </a:p>
        </p:txBody>
      </p:sp>
      <p:sp>
        <p:nvSpPr>
          <p:cNvPr id="15" name="Text 13"/>
          <p:cNvSpPr txBox="1"/>
          <p:nvPr/>
        </p:nvSpPr>
        <p:spPr>
          <a:xfrm>
            <a:off x="822960" y="5257800"/>
            <a:ext cx="10545775" cy="502920"/>
          </a:xfrm>
          <a:prstGeom prst="rect">
            <a:avLst/>
          </a:prstGeom>
          <a:noFill/>
          <a:ln/>
        </p:spPr>
        <p:txBody>
          <a:bodyPr wrap="square" lIns="0" tIns="0" rIns="0" bIns="0" rtlCol="0" anchor="ctr"/>
          <a:lstStyle/>
          <a:p>
            <a:pPr marL="0" indent="0" algn="l">
              <a:lnSpc>
                <a:spcPct val="110000"/>
              </a:lnSpc>
              <a:buNone/>
            </a:pPr>
            <a:r>
              <a:rPr lang="en-US" sz="1250" i="1" dirty="0">
                <a:solidFill>
                  <a:srgbClr val="55503F"/>
                </a:solidFill>
                <a:latin typeface="Inter" pitchFamily="34" charset="0"/>
                <a:ea typeface="Inter" pitchFamily="34" charset="-122"/>
                <a:cs typeface="Inter" pitchFamily="34" charset="-120"/>
              </a:rPr>
              <a:t>Factory, Strategy and Observer from the Part 1 plan were not needed.</a:t>
            </a:r>
            <a:endParaRPr lang="en-US" sz="1250" dirty="0"/>
          </a:p>
        </p:txBody>
      </p:sp>
      <p:sp>
        <p:nvSpPr>
          <p:cNvPr id="16" name="Text 14"/>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7" name="Text 15"/>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BUSINESS LOGIC</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Booking rules that protect the business</a:t>
            </a:r>
            <a:endParaRPr lang="en-US" sz="3000" dirty="0"/>
          </a:p>
        </p:txBody>
      </p:sp>
      <p:sp>
        <p:nvSpPr>
          <p:cNvPr id="4" name="Shape 2"/>
          <p:cNvSpPr/>
          <p:nvPr/>
        </p:nvSpPr>
        <p:spPr>
          <a:xfrm>
            <a:off x="548640" y="187452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87452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828800"/>
            <a:ext cx="6089904" cy="68580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No double booking: transactions + a per-barber lock; concurrent requests retry safely.</a:t>
            </a:r>
            <a:endParaRPr lang="en-US" sz="1400" dirty="0"/>
          </a:p>
        </p:txBody>
      </p:sp>
      <p:sp>
        <p:nvSpPr>
          <p:cNvPr id="7" name="Shape 5"/>
          <p:cNvSpPr/>
          <p:nvPr/>
        </p:nvSpPr>
        <p:spPr>
          <a:xfrm>
            <a:off x="548640" y="2679192"/>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679192"/>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633472"/>
            <a:ext cx="6089904" cy="68580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Safe retries: an idempotency key means a repeated click never creates a second booking.</a:t>
            </a:r>
            <a:endParaRPr lang="en-US" sz="1400" dirty="0"/>
          </a:p>
        </p:txBody>
      </p:sp>
      <p:sp>
        <p:nvSpPr>
          <p:cNvPr id="10" name="Shape 8"/>
          <p:cNvSpPr/>
          <p:nvPr/>
        </p:nvSpPr>
        <p:spPr>
          <a:xfrm>
            <a:off x="548640" y="3483864"/>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1" name="Text 9"/>
          <p:cNvSpPr txBox="1"/>
          <p:nvPr/>
        </p:nvSpPr>
        <p:spPr>
          <a:xfrm>
            <a:off x="548640" y="3483864"/>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03</a:t>
            </a:r>
            <a:endParaRPr lang="en-US" sz="1100" dirty="0"/>
          </a:p>
        </p:txBody>
      </p:sp>
      <p:sp>
        <p:nvSpPr>
          <p:cNvPr id="12" name="Text 10"/>
          <p:cNvSpPr txBox="1"/>
          <p:nvPr/>
        </p:nvSpPr>
        <p:spPr>
          <a:xfrm>
            <a:off x="1133856" y="3438144"/>
            <a:ext cx="6089904" cy="68580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Prices calculated on the server; each booking keeps a price snapshot.</a:t>
            </a:r>
            <a:endParaRPr lang="en-US" sz="1400" dirty="0"/>
          </a:p>
        </p:txBody>
      </p:sp>
      <p:sp>
        <p:nvSpPr>
          <p:cNvPr id="13" name="Shape 11"/>
          <p:cNvSpPr/>
          <p:nvPr/>
        </p:nvSpPr>
        <p:spPr>
          <a:xfrm>
            <a:off x="548640" y="4288536"/>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4" name="Text 12"/>
          <p:cNvSpPr txBox="1"/>
          <p:nvPr/>
        </p:nvSpPr>
        <p:spPr>
          <a:xfrm>
            <a:off x="548640" y="4288536"/>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04</a:t>
            </a:r>
            <a:endParaRPr lang="en-US" sz="1100" dirty="0"/>
          </a:p>
        </p:txBody>
      </p:sp>
      <p:sp>
        <p:nvSpPr>
          <p:cNvPr id="15" name="Text 13"/>
          <p:cNvSpPr txBox="1"/>
          <p:nvPr/>
        </p:nvSpPr>
        <p:spPr>
          <a:xfrm>
            <a:off x="1133856" y="4242816"/>
            <a:ext cx="6089904" cy="685800"/>
          </a:xfrm>
          <a:prstGeom prst="rect">
            <a:avLst/>
          </a:prstGeom>
          <a:noFill/>
          <a:ln/>
        </p:spPr>
        <p:txBody>
          <a:bodyPr wrap="square" lIns="0" tIns="0" rIns="0" bIns="0" rtlCol="0" anchor="t"/>
          <a:lstStyle/>
          <a:p>
            <a:pPr marL="0" indent="0">
              <a:lnSpc>
                <a:spcPct val="112000"/>
              </a:lnSpc>
              <a:buNone/>
            </a:pPr>
            <a:r>
              <a:rPr lang="en-US" sz="1400" dirty="0">
                <a:solidFill>
                  <a:srgbClr val="322F29"/>
                </a:solidFill>
                <a:latin typeface="Inter" pitchFamily="34" charset="0"/>
                <a:ea typeface="Inter" pitchFamily="34" charset="-122"/>
                <a:cs typeface="Inter" pitchFamily="34" charset="-120"/>
              </a:rPr>
              <a:t>Max 3 active bookings per customer; only qualified barbers are offered.</a:t>
            </a:r>
            <a:endParaRPr lang="en-US" sz="1400" dirty="0"/>
          </a:p>
        </p:txBody>
      </p:sp>
      <p:sp>
        <p:nvSpPr>
          <p:cNvPr id="16" name="Shape 14"/>
          <p:cNvSpPr/>
          <p:nvPr/>
        </p:nvSpPr>
        <p:spPr>
          <a:xfrm>
            <a:off x="7589520" y="2103120"/>
            <a:ext cx="1371600" cy="548640"/>
          </a:xfrm>
          <a:prstGeom prst="roundRect">
            <a:avLst>
              <a:gd name="adj" fmla="val 16667"/>
            </a:avLst>
          </a:prstGeom>
          <a:solidFill>
            <a:srgbClr val="E8E3D8"/>
          </a:solidFill>
          <a:ln w="12700">
            <a:solidFill>
              <a:srgbClr val="C9BFA8"/>
            </a:solidFill>
            <a:prstDash val="solid"/>
          </a:ln>
        </p:spPr>
        <p:txBody>
          <a:bodyPr/>
          <a:lstStyle/>
          <a:p>
            <a:endParaRPr lang="en-ZA"/>
          </a:p>
        </p:txBody>
      </p:sp>
      <p:sp>
        <p:nvSpPr>
          <p:cNvPr id="17" name="Text 15"/>
          <p:cNvSpPr txBox="1"/>
          <p:nvPr/>
        </p:nvSpPr>
        <p:spPr>
          <a:xfrm>
            <a:off x="7589520" y="2103120"/>
            <a:ext cx="1371600" cy="548640"/>
          </a:xfrm>
          <a:prstGeom prst="rect">
            <a:avLst/>
          </a:prstGeom>
          <a:noFill/>
          <a:ln/>
        </p:spPr>
        <p:txBody>
          <a:bodyPr wrap="square" lIns="0" tIns="0" rIns="0" bIns="0" rtlCol="0" anchor="ctr"/>
          <a:lstStyle/>
          <a:p>
            <a:pPr marL="0" indent="0" algn="ctr">
              <a:buNone/>
            </a:pPr>
            <a:r>
              <a:rPr lang="en-US" sz="1100" b="1" dirty="0">
                <a:solidFill>
                  <a:srgbClr val="55503F"/>
                </a:solidFill>
                <a:latin typeface="Outfit" pitchFamily="34" charset="0"/>
                <a:ea typeface="Outfit" pitchFamily="34" charset="-122"/>
                <a:cs typeface="Outfit" pitchFamily="34" charset="-120"/>
              </a:rPr>
              <a:t>Pending</a:t>
            </a:r>
            <a:endParaRPr lang="en-US" sz="1100" dirty="0"/>
          </a:p>
        </p:txBody>
      </p:sp>
      <p:sp>
        <p:nvSpPr>
          <p:cNvPr id="18" name="Shape 16"/>
          <p:cNvSpPr/>
          <p:nvPr/>
        </p:nvSpPr>
        <p:spPr>
          <a:xfrm>
            <a:off x="8275320" y="2651760"/>
            <a:ext cx="9144" cy="365760"/>
          </a:xfrm>
          <a:prstGeom prst="line">
            <a:avLst/>
          </a:prstGeom>
          <a:noFill/>
          <a:ln w="19050">
            <a:solidFill>
              <a:srgbClr val="726C5E"/>
            </a:solidFill>
            <a:prstDash val="solid"/>
            <a:tailEnd type="triangle"/>
          </a:ln>
        </p:spPr>
        <p:txBody>
          <a:bodyPr/>
          <a:lstStyle/>
          <a:p>
            <a:endParaRPr lang="en-ZA"/>
          </a:p>
        </p:txBody>
      </p:sp>
      <p:sp>
        <p:nvSpPr>
          <p:cNvPr id="19" name="Shape 17"/>
          <p:cNvSpPr/>
          <p:nvPr/>
        </p:nvSpPr>
        <p:spPr>
          <a:xfrm>
            <a:off x="7589520" y="3017520"/>
            <a:ext cx="1371600" cy="548640"/>
          </a:xfrm>
          <a:prstGeom prst="roundRect">
            <a:avLst>
              <a:gd name="adj" fmla="val 16667"/>
            </a:avLst>
          </a:prstGeom>
          <a:solidFill>
            <a:srgbClr val="1F5C57"/>
          </a:solidFill>
          <a:ln w="12700">
            <a:solidFill>
              <a:srgbClr val="C9BFA8"/>
            </a:solidFill>
            <a:prstDash val="solid"/>
          </a:ln>
        </p:spPr>
        <p:txBody>
          <a:bodyPr/>
          <a:lstStyle/>
          <a:p>
            <a:endParaRPr lang="en-ZA"/>
          </a:p>
        </p:txBody>
      </p:sp>
      <p:sp>
        <p:nvSpPr>
          <p:cNvPr id="20" name="Text 18"/>
          <p:cNvSpPr txBox="1"/>
          <p:nvPr/>
        </p:nvSpPr>
        <p:spPr>
          <a:xfrm>
            <a:off x="7589520" y="3017520"/>
            <a:ext cx="1371600" cy="548640"/>
          </a:xfrm>
          <a:prstGeom prst="rect">
            <a:avLst/>
          </a:prstGeom>
          <a:noFill/>
          <a:ln/>
        </p:spPr>
        <p:txBody>
          <a:bodyPr wrap="square" lIns="0" tIns="0" rIns="0" bIns="0" rtlCol="0" anchor="ctr"/>
          <a:lstStyle/>
          <a:p>
            <a:pPr marL="0" indent="0" algn="ctr">
              <a:buNone/>
            </a:pPr>
            <a:r>
              <a:rPr lang="en-US" sz="1100" b="1" dirty="0">
                <a:solidFill>
                  <a:srgbClr val="F3EAE3"/>
                </a:solidFill>
                <a:latin typeface="Outfit" pitchFamily="34" charset="0"/>
                <a:ea typeface="Outfit" pitchFamily="34" charset="-122"/>
                <a:cs typeface="Outfit" pitchFamily="34" charset="-120"/>
              </a:rPr>
              <a:t>Confirmed</a:t>
            </a:r>
            <a:endParaRPr lang="en-US" sz="1100" dirty="0"/>
          </a:p>
        </p:txBody>
      </p:sp>
      <p:sp>
        <p:nvSpPr>
          <p:cNvPr id="21" name="Shape 19"/>
          <p:cNvSpPr/>
          <p:nvPr/>
        </p:nvSpPr>
        <p:spPr>
          <a:xfrm>
            <a:off x="8275320" y="3566160"/>
            <a:ext cx="9144" cy="365760"/>
          </a:xfrm>
          <a:prstGeom prst="line">
            <a:avLst/>
          </a:prstGeom>
          <a:noFill/>
          <a:ln w="19050">
            <a:solidFill>
              <a:srgbClr val="726C5E"/>
            </a:solidFill>
            <a:prstDash val="solid"/>
            <a:tailEnd type="triangle"/>
          </a:ln>
        </p:spPr>
        <p:txBody>
          <a:bodyPr/>
          <a:lstStyle/>
          <a:p>
            <a:endParaRPr lang="en-ZA"/>
          </a:p>
        </p:txBody>
      </p:sp>
      <p:sp>
        <p:nvSpPr>
          <p:cNvPr id="22" name="Shape 20"/>
          <p:cNvSpPr/>
          <p:nvPr/>
        </p:nvSpPr>
        <p:spPr>
          <a:xfrm>
            <a:off x="7589520" y="3931920"/>
            <a:ext cx="1371600" cy="548640"/>
          </a:xfrm>
          <a:prstGeom prst="roundRect">
            <a:avLst>
              <a:gd name="adj" fmla="val 16667"/>
            </a:avLst>
          </a:prstGeom>
          <a:solidFill>
            <a:srgbClr val="E8E3D8"/>
          </a:solidFill>
          <a:ln w="12700">
            <a:solidFill>
              <a:srgbClr val="C9BFA8"/>
            </a:solidFill>
            <a:prstDash val="solid"/>
          </a:ln>
        </p:spPr>
        <p:txBody>
          <a:bodyPr/>
          <a:lstStyle/>
          <a:p>
            <a:endParaRPr lang="en-ZA"/>
          </a:p>
        </p:txBody>
      </p:sp>
      <p:sp>
        <p:nvSpPr>
          <p:cNvPr id="23" name="Text 21"/>
          <p:cNvSpPr txBox="1"/>
          <p:nvPr/>
        </p:nvSpPr>
        <p:spPr>
          <a:xfrm>
            <a:off x="7589520" y="3931920"/>
            <a:ext cx="1371600" cy="548640"/>
          </a:xfrm>
          <a:prstGeom prst="rect">
            <a:avLst/>
          </a:prstGeom>
          <a:noFill/>
          <a:ln/>
        </p:spPr>
        <p:txBody>
          <a:bodyPr wrap="square" lIns="0" tIns="0" rIns="0" bIns="0" rtlCol="0" anchor="ctr"/>
          <a:lstStyle/>
          <a:p>
            <a:pPr marL="0" indent="0" algn="ctr">
              <a:buNone/>
            </a:pPr>
            <a:r>
              <a:rPr lang="en-US" sz="1100" b="1" dirty="0">
                <a:solidFill>
                  <a:srgbClr val="55503F"/>
                </a:solidFill>
                <a:latin typeface="Outfit" pitchFamily="34" charset="0"/>
                <a:ea typeface="Outfit" pitchFamily="34" charset="-122"/>
                <a:cs typeface="Outfit" pitchFamily="34" charset="-120"/>
              </a:rPr>
              <a:t>Completed /</a:t>
            </a:r>
            <a:endParaRPr lang="en-US" sz="1100" dirty="0"/>
          </a:p>
          <a:p>
            <a:pPr marL="0" indent="0" algn="ctr">
              <a:buNone/>
            </a:pPr>
            <a:r>
              <a:rPr lang="en-US" sz="1100" b="1" dirty="0">
                <a:solidFill>
                  <a:srgbClr val="55503F"/>
                </a:solidFill>
                <a:latin typeface="Outfit" pitchFamily="34" charset="0"/>
                <a:ea typeface="Outfit" pitchFamily="34" charset="-122"/>
                <a:cs typeface="Outfit" pitchFamily="34" charset="-120"/>
              </a:rPr>
              <a:t>No-show</a:t>
            </a:r>
            <a:endParaRPr lang="en-US" sz="1100" dirty="0"/>
          </a:p>
        </p:txBody>
      </p:sp>
      <p:sp>
        <p:nvSpPr>
          <p:cNvPr id="24" name="Shape 22"/>
          <p:cNvSpPr/>
          <p:nvPr/>
        </p:nvSpPr>
        <p:spPr>
          <a:xfrm>
            <a:off x="9418320" y="2560320"/>
            <a:ext cx="1371600" cy="548640"/>
          </a:xfrm>
          <a:prstGeom prst="roundRect">
            <a:avLst>
              <a:gd name="adj" fmla="val 16667"/>
            </a:avLst>
          </a:prstGeom>
          <a:solidFill>
            <a:srgbClr val="E8E3D8"/>
          </a:solidFill>
          <a:ln w="12700">
            <a:solidFill>
              <a:srgbClr val="C9BFA8"/>
            </a:solidFill>
            <a:prstDash val="solid"/>
          </a:ln>
        </p:spPr>
        <p:txBody>
          <a:bodyPr/>
          <a:lstStyle/>
          <a:p>
            <a:endParaRPr lang="en-ZA"/>
          </a:p>
        </p:txBody>
      </p:sp>
      <p:sp>
        <p:nvSpPr>
          <p:cNvPr id="25" name="Text 23"/>
          <p:cNvSpPr txBox="1"/>
          <p:nvPr/>
        </p:nvSpPr>
        <p:spPr>
          <a:xfrm>
            <a:off x="9418320" y="2560320"/>
            <a:ext cx="1371600" cy="548640"/>
          </a:xfrm>
          <a:prstGeom prst="rect">
            <a:avLst/>
          </a:prstGeom>
          <a:noFill/>
          <a:ln/>
        </p:spPr>
        <p:txBody>
          <a:bodyPr wrap="square" lIns="0" tIns="0" rIns="0" bIns="0" rtlCol="0" anchor="ctr"/>
          <a:lstStyle/>
          <a:p>
            <a:pPr marL="0" indent="0" algn="ctr">
              <a:buNone/>
            </a:pPr>
            <a:r>
              <a:rPr lang="en-US" sz="1100" b="1" dirty="0">
                <a:solidFill>
                  <a:srgbClr val="55503F"/>
                </a:solidFill>
                <a:latin typeface="Outfit" pitchFamily="34" charset="0"/>
                <a:ea typeface="Outfit" pitchFamily="34" charset="-122"/>
                <a:cs typeface="Outfit" pitchFamily="34" charset="-120"/>
              </a:rPr>
              <a:t>Cancelled</a:t>
            </a:r>
            <a:endParaRPr lang="en-US" sz="1100" dirty="0"/>
          </a:p>
        </p:txBody>
      </p:sp>
      <p:sp>
        <p:nvSpPr>
          <p:cNvPr id="26" name="Shape 24"/>
          <p:cNvSpPr/>
          <p:nvPr/>
        </p:nvSpPr>
        <p:spPr>
          <a:xfrm>
            <a:off x="8961120" y="2377440"/>
            <a:ext cx="457200" cy="457200"/>
          </a:xfrm>
          <a:prstGeom prst="line">
            <a:avLst/>
          </a:prstGeom>
          <a:noFill/>
          <a:ln w="19050">
            <a:solidFill>
              <a:srgbClr val="726C5E"/>
            </a:solidFill>
            <a:prstDash val="solid"/>
            <a:tailEnd type="triangle"/>
          </a:ln>
        </p:spPr>
        <p:txBody>
          <a:bodyPr/>
          <a:lstStyle/>
          <a:p>
            <a:endParaRPr lang="en-ZA"/>
          </a:p>
        </p:txBody>
      </p:sp>
      <p:sp>
        <p:nvSpPr>
          <p:cNvPr id="27" name="Shape 25"/>
          <p:cNvSpPr/>
          <p:nvPr/>
        </p:nvSpPr>
        <p:spPr>
          <a:xfrm flipV="1">
            <a:off x="8961120" y="2834640"/>
            <a:ext cx="457200" cy="457200"/>
          </a:xfrm>
          <a:prstGeom prst="line">
            <a:avLst/>
          </a:prstGeom>
          <a:noFill/>
          <a:ln w="19050">
            <a:solidFill>
              <a:srgbClr val="726C5E"/>
            </a:solidFill>
            <a:prstDash val="solid"/>
            <a:tailEnd type="triangle"/>
          </a:ln>
        </p:spPr>
        <p:txBody>
          <a:bodyPr/>
          <a:lstStyle/>
          <a:p>
            <a:endParaRPr lang="en-ZA"/>
          </a:p>
        </p:txBody>
      </p:sp>
      <p:sp>
        <p:nvSpPr>
          <p:cNvPr id="28" name="Text 26"/>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29" name="Text 27"/>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SECURITY</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Defence in depth</a:t>
            </a:r>
            <a:endParaRPr lang="en-US" sz="3000" dirty="0"/>
          </a:p>
        </p:txBody>
      </p:sp>
      <p:sp>
        <p:nvSpPr>
          <p:cNvPr id="4" name="Shape 2"/>
          <p:cNvSpPr/>
          <p:nvPr/>
        </p:nvSpPr>
        <p:spPr>
          <a:xfrm>
            <a:off x="548640" y="182880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82880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783080"/>
            <a:ext cx="10509199" cy="59436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Auth0 login; the API checks every token's signature, issuer, audience and expiry.</a:t>
            </a:r>
            <a:endParaRPr lang="en-US" sz="1350" dirty="0"/>
          </a:p>
        </p:txBody>
      </p:sp>
      <p:sp>
        <p:nvSpPr>
          <p:cNvPr id="7" name="Shape 5"/>
          <p:cNvSpPr/>
          <p:nvPr/>
        </p:nvSpPr>
        <p:spPr>
          <a:xfrm>
            <a:off x="548640" y="2578608"/>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8" name="Text 6"/>
          <p:cNvSpPr txBox="1"/>
          <p:nvPr/>
        </p:nvSpPr>
        <p:spPr>
          <a:xfrm>
            <a:off x="548640" y="2578608"/>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02</a:t>
            </a:r>
            <a:endParaRPr lang="en-US" sz="1100" dirty="0"/>
          </a:p>
        </p:txBody>
      </p:sp>
      <p:sp>
        <p:nvSpPr>
          <p:cNvPr id="9" name="Text 7"/>
          <p:cNvSpPr txBox="1"/>
          <p:nvPr/>
        </p:nvSpPr>
        <p:spPr>
          <a:xfrm>
            <a:off x="1133856" y="2532888"/>
            <a:ext cx="10509199" cy="59436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Role and ownership checks in the web app AND the API.</a:t>
            </a:r>
            <a:endParaRPr lang="en-US" sz="1350" dirty="0"/>
          </a:p>
        </p:txBody>
      </p:sp>
      <p:sp>
        <p:nvSpPr>
          <p:cNvPr id="10" name="Shape 8"/>
          <p:cNvSpPr/>
          <p:nvPr/>
        </p:nvSpPr>
        <p:spPr>
          <a:xfrm>
            <a:off x="548640" y="3328416"/>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1" name="Text 9"/>
          <p:cNvSpPr txBox="1"/>
          <p:nvPr/>
        </p:nvSpPr>
        <p:spPr>
          <a:xfrm>
            <a:off x="548640" y="3328416"/>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03</a:t>
            </a:r>
            <a:endParaRPr lang="en-US" sz="1100" dirty="0"/>
          </a:p>
        </p:txBody>
      </p:sp>
      <p:sp>
        <p:nvSpPr>
          <p:cNvPr id="12" name="Text 10"/>
          <p:cNvSpPr txBox="1"/>
          <p:nvPr/>
        </p:nvSpPr>
        <p:spPr>
          <a:xfrm>
            <a:off x="1133856" y="3282696"/>
            <a:ext cx="10509199" cy="59436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Rate limiting per visitor and per user; 429 with Retry-After.</a:t>
            </a:r>
            <a:endParaRPr lang="en-US" sz="1350" dirty="0"/>
          </a:p>
        </p:txBody>
      </p:sp>
      <p:sp>
        <p:nvSpPr>
          <p:cNvPr id="13" name="Shape 11"/>
          <p:cNvSpPr/>
          <p:nvPr/>
        </p:nvSpPr>
        <p:spPr>
          <a:xfrm>
            <a:off x="548640" y="4078224"/>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4" name="Text 12"/>
          <p:cNvSpPr txBox="1"/>
          <p:nvPr/>
        </p:nvSpPr>
        <p:spPr>
          <a:xfrm>
            <a:off x="548640" y="4078224"/>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04</a:t>
            </a:r>
            <a:endParaRPr lang="en-US" sz="1100" dirty="0"/>
          </a:p>
        </p:txBody>
      </p:sp>
      <p:sp>
        <p:nvSpPr>
          <p:cNvPr id="15" name="Text 13"/>
          <p:cNvSpPr txBox="1"/>
          <p:nvPr/>
        </p:nvSpPr>
        <p:spPr>
          <a:xfrm>
            <a:off x="1133856" y="4032504"/>
            <a:ext cx="10509199" cy="59436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Content Security Policy, anti-clickjacking headers, XSS fixes, no secrets in Git.</a:t>
            </a:r>
            <a:endParaRPr lang="en-US" sz="1350" dirty="0"/>
          </a:p>
        </p:txBody>
      </p:sp>
      <p:sp>
        <p:nvSpPr>
          <p:cNvPr id="16" name="Shape 14"/>
          <p:cNvSpPr/>
          <p:nvPr/>
        </p:nvSpPr>
        <p:spPr>
          <a:xfrm>
            <a:off x="548640" y="4828032"/>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17" name="Text 15"/>
          <p:cNvSpPr txBox="1"/>
          <p:nvPr/>
        </p:nvSpPr>
        <p:spPr>
          <a:xfrm>
            <a:off x="548640" y="4828032"/>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05</a:t>
            </a:r>
            <a:endParaRPr lang="en-US" sz="1100" dirty="0"/>
          </a:p>
        </p:txBody>
      </p:sp>
      <p:sp>
        <p:nvSpPr>
          <p:cNvPr id="18" name="Text 16"/>
          <p:cNvSpPr txBox="1"/>
          <p:nvPr/>
        </p:nvSpPr>
        <p:spPr>
          <a:xfrm>
            <a:off x="1133856" y="4782312"/>
            <a:ext cx="10509199" cy="594360"/>
          </a:xfrm>
          <a:prstGeom prst="rect">
            <a:avLst/>
          </a:prstGeom>
          <a:noFill/>
          <a:ln/>
        </p:spPr>
        <p:txBody>
          <a:bodyPr wrap="square" lIns="0" tIns="0" rIns="0" bIns="0" rtlCol="0" anchor="t"/>
          <a:lstStyle/>
          <a:p>
            <a:pPr marL="0" indent="0">
              <a:lnSpc>
                <a:spcPct val="112000"/>
              </a:lnSpc>
              <a:buNone/>
            </a:pPr>
            <a:r>
              <a:rPr lang="en-US" sz="1350" dirty="0">
                <a:solidFill>
                  <a:srgbClr val="322F29"/>
                </a:solidFill>
                <a:latin typeface="Inter" pitchFamily="34" charset="0"/>
                <a:ea typeface="Inter" pitchFamily="34" charset="-122"/>
                <a:cs typeface="Inter" pitchFamily="34" charset="-120"/>
              </a:rPr>
              <a:t>Staff changes: verified emails only, no self-promotion, admins can't be demoted in-app, audit log.</a:t>
            </a:r>
            <a:endParaRPr lang="en-US" sz="1350" dirty="0"/>
          </a:p>
        </p:txBody>
      </p:sp>
      <p:sp>
        <p:nvSpPr>
          <p:cNvPr id="19" name="Text 17"/>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20" name="Text 18"/>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QUALITY</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Testing and quality</a:t>
            </a:r>
            <a:endParaRPr lang="en-US" sz="3000" dirty="0"/>
          </a:p>
        </p:txBody>
      </p:sp>
      <p:sp>
        <p:nvSpPr>
          <p:cNvPr id="4" name="Shape 2"/>
          <p:cNvSpPr/>
          <p:nvPr/>
        </p:nvSpPr>
        <p:spPr>
          <a:xfrm>
            <a:off x="548640" y="1920240"/>
            <a:ext cx="384048" cy="384048"/>
          </a:xfrm>
          <a:prstGeom prst="roundRect">
            <a:avLst>
              <a:gd name="adj" fmla="val 19048"/>
            </a:avLst>
          </a:prstGeom>
          <a:solidFill>
            <a:srgbClr val="E8E3D8"/>
          </a:solidFill>
          <a:ln w="9525">
            <a:solidFill>
              <a:srgbClr val="C9BFA8"/>
            </a:solidFill>
            <a:prstDash val="solid"/>
          </a:ln>
        </p:spPr>
        <p:txBody>
          <a:bodyPr/>
          <a:lstStyle/>
          <a:p>
            <a:endParaRPr lang="en-ZA"/>
          </a:p>
        </p:txBody>
      </p:sp>
      <p:sp>
        <p:nvSpPr>
          <p:cNvPr id="5" name="Text 3"/>
          <p:cNvSpPr txBox="1"/>
          <p:nvPr/>
        </p:nvSpPr>
        <p:spPr>
          <a:xfrm>
            <a:off x="548640" y="1920240"/>
            <a:ext cx="384048" cy="384048"/>
          </a:xfrm>
          <a:prstGeom prst="rect">
            <a:avLst/>
          </a:prstGeom>
          <a:noFill/>
          <a:ln/>
        </p:spPr>
        <p:txBody>
          <a:bodyPr wrap="square" lIns="0" tIns="0" rIns="0" bIns="0" rtlCol="0" anchor="ctr"/>
          <a:lstStyle/>
          <a:p>
            <a:pPr marL="0" indent="0" algn="ctr">
              <a:buNone/>
            </a:pPr>
            <a:r>
              <a:rPr lang="en-US" sz="1100" b="1" dirty="0">
                <a:solidFill>
                  <a:srgbClr val="7C3626"/>
                </a:solidFill>
                <a:latin typeface="JetBrains Mono" pitchFamily="34" charset="0"/>
                <a:ea typeface="JetBrains Mono" pitchFamily="34" charset="-122"/>
                <a:cs typeface="JetBrains Mono" pitchFamily="34" charset="-120"/>
              </a:rPr>
              <a:t>01</a:t>
            </a:r>
            <a:endParaRPr lang="en-US" sz="1100" dirty="0"/>
          </a:p>
        </p:txBody>
      </p:sp>
      <p:sp>
        <p:nvSpPr>
          <p:cNvPr id="6" name="Text 4"/>
          <p:cNvSpPr txBox="1"/>
          <p:nvPr/>
        </p:nvSpPr>
        <p:spPr>
          <a:xfrm>
            <a:off x="1133856" y="1874520"/>
            <a:ext cx="10509199" cy="731520"/>
          </a:xfrm>
          <a:prstGeom prst="rect">
            <a:avLst/>
          </a:prstGeom>
          <a:noFill/>
          <a:ln/>
        </p:spPr>
        <p:txBody>
          <a:bodyPr wrap="square" lIns="0" tIns="0" rIns="0" bIns="0" rtlCol="0" anchor="t"/>
          <a:lstStyle/>
          <a:p>
            <a:pPr marL="0" indent="0">
              <a:lnSpc>
                <a:spcPct val="112000"/>
              </a:lnSpc>
              <a:buNone/>
            </a:pPr>
            <a:r>
              <a:rPr lang="en-US" sz="1600" dirty="0">
                <a:solidFill>
                  <a:srgbClr val="322F29"/>
                </a:solidFill>
                <a:latin typeface="Inter" pitchFamily="34" charset="0"/>
                <a:ea typeface="Inter" pitchFamily="34" charset="-122"/>
                <a:cs typeface="Inter" pitchFamily="34" charset="-120"/>
              </a:rPr>
              <a:t>Docker images built and started with production settings in CI; CSP checked in a real browser.</a:t>
            </a:r>
            <a:endParaRPr lang="en-US" sz="1600" dirty="0"/>
          </a:p>
        </p:txBody>
      </p:sp>
      <p:sp>
        <p:nvSpPr>
          <p:cNvPr id="7" name="Text 5"/>
          <p:cNvSpPr txBox="1"/>
          <p:nvPr/>
        </p:nvSpPr>
        <p:spPr>
          <a:xfrm>
            <a:off x="548640" y="3063240"/>
            <a:ext cx="11094415" cy="320040"/>
          </a:xfrm>
          <a:prstGeom prst="rect">
            <a:avLst/>
          </a:prstGeom>
          <a:noFill/>
          <a:ln/>
        </p:spPr>
        <p:txBody>
          <a:bodyPr wrap="square" lIns="0" tIns="0" rIns="0" bIns="0" rtlCol="0" anchor="ctr"/>
          <a:lstStyle/>
          <a:p>
            <a:pPr marL="0" indent="0">
              <a:buNone/>
            </a:pPr>
            <a:r>
              <a:rPr lang="en-US" sz="1100" b="1" kern="0" spc="150" dirty="0">
                <a:solidFill>
                  <a:srgbClr val="1F5C57"/>
                </a:solidFill>
                <a:latin typeface="JetBrains Mono" pitchFamily="34" charset="0"/>
                <a:ea typeface="JetBrains Mono" pitchFamily="34" charset="-122"/>
                <a:cs typeface="JetBrains Mono" pitchFamily="34" charset="-120"/>
              </a:rPr>
              <a:t>REAL ISSUES FOUND BY REVIEW &amp; TESTING</a:t>
            </a:r>
            <a:endParaRPr lang="en-US" sz="1100" dirty="0"/>
          </a:p>
        </p:txBody>
      </p:sp>
      <p:sp>
        <p:nvSpPr>
          <p:cNvPr id="8" name="Shape 6"/>
          <p:cNvSpPr/>
          <p:nvPr/>
        </p:nvSpPr>
        <p:spPr>
          <a:xfrm>
            <a:off x="548640" y="3520440"/>
            <a:ext cx="2567864" cy="1371600"/>
          </a:xfrm>
          <a:prstGeom prst="roundRect">
            <a:avLst>
              <a:gd name="adj" fmla="val 8000"/>
            </a:avLst>
          </a:prstGeom>
          <a:solidFill>
            <a:srgbClr val="E8E3D8"/>
          </a:solidFill>
          <a:ln/>
        </p:spPr>
        <p:txBody>
          <a:bodyPr/>
          <a:lstStyle/>
          <a:p>
            <a:endParaRPr lang="en-ZA"/>
          </a:p>
        </p:txBody>
      </p:sp>
      <p:sp>
        <p:nvSpPr>
          <p:cNvPr id="9" name="Text 7"/>
          <p:cNvSpPr txBox="1"/>
          <p:nvPr/>
        </p:nvSpPr>
        <p:spPr>
          <a:xfrm>
            <a:off x="685800" y="3520440"/>
            <a:ext cx="2293544" cy="1371600"/>
          </a:xfrm>
          <a:prstGeom prst="rect">
            <a:avLst/>
          </a:prstGeom>
          <a:noFill/>
          <a:ln/>
        </p:spPr>
        <p:txBody>
          <a:bodyPr wrap="square" lIns="0" tIns="0" rIns="0" bIns="0" rtlCol="0" anchor="ctr"/>
          <a:lstStyle/>
          <a:p>
            <a:pPr marL="0" indent="0" algn="ctr">
              <a:lnSpc>
                <a:spcPct val="110000"/>
              </a:lnSpc>
              <a:buNone/>
            </a:pPr>
            <a:r>
              <a:rPr lang="en-US" sz="1300" dirty="0">
                <a:solidFill>
                  <a:srgbClr val="322F29"/>
                </a:solidFill>
                <a:latin typeface="Inter" pitchFamily="34" charset="0"/>
                <a:ea typeface="Inter" pitchFamily="34" charset="-122"/>
                <a:cs typeface="Inter" pitchFamily="34" charset="-120"/>
              </a:rPr>
              <a:t>Shared rate limit</a:t>
            </a:r>
            <a:endParaRPr lang="en-US" sz="1300" dirty="0"/>
          </a:p>
        </p:txBody>
      </p:sp>
      <p:sp>
        <p:nvSpPr>
          <p:cNvPr id="10" name="Shape 8"/>
          <p:cNvSpPr/>
          <p:nvPr/>
        </p:nvSpPr>
        <p:spPr>
          <a:xfrm>
            <a:off x="3390824" y="3520440"/>
            <a:ext cx="2567864" cy="1371600"/>
          </a:xfrm>
          <a:prstGeom prst="roundRect">
            <a:avLst>
              <a:gd name="adj" fmla="val 8000"/>
            </a:avLst>
          </a:prstGeom>
          <a:solidFill>
            <a:srgbClr val="E8E3D8"/>
          </a:solidFill>
          <a:ln/>
        </p:spPr>
        <p:txBody>
          <a:bodyPr/>
          <a:lstStyle/>
          <a:p>
            <a:endParaRPr lang="en-ZA"/>
          </a:p>
        </p:txBody>
      </p:sp>
      <p:sp>
        <p:nvSpPr>
          <p:cNvPr id="11" name="Text 9"/>
          <p:cNvSpPr txBox="1"/>
          <p:nvPr/>
        </p:nvSpPr>
        <p:spPr>
          <a:xfrm>
            <a:off x="3527984" y="3520440"/>
            <a:ext cx="2293544" cy="1371600"/>
          </a:xfrm>
          <a:prstGeom prst="rect">
            <a:avLst/>
          </a:prstGeom>
          <a:noFill/>
          <a:ln/>
        </p:spPr>
        <p:txBody>
          <a:bodyPr wrap="square" lIns="0" tIns="0" rIns="0" bIns="0" rtlCol="0" anchor="ctr"/>
          <a:lstStyle/>
          <a:p>
            <a:pPr marL="0" indent="0" algn="ctr">
              <a:lnSpc>
                <a:spcPct val="110000"/>
              </a:lnSpc>
              <a:buNone/>
            </a:pPr>
            <a:r>
              <a:rPr lang="en-US" sz="1300" dirty="0">
                <a:solidFill>
                  <a:srgbClr val="322F29"/>
                </a:solidFill>
                <a:latin typeface="Inter" pitchFamily="34" charset="0"/>
                <a:ea typeface="Inter" pitchFamily="34" charset="-122"/>
                <a:cs typeface="Inter" pitchFamily="34" charset="-120"/>
              </a:rPr>
              <a:t>Stored XSS through names</a:t>
            </a:r>
            <a:endParaRPr lang="en-US" sz="1300" dirty="0"/>
          </a:p>
        </p:txBody>
      </p:sp>
      <p:sp>
        <p:nvSpPr>
          <p:cNvPr id="12" name="Shape 10"/>
          <p:cNvSpPr/>
          <p:nvPr/>
        </p:nvSpPr>
        <p:spPr>
          <a:xfrm>
            <a:off x="6233008" y="3520440"/>
            <a:ext cx="2567864" cy="1371600"/>
          </a:xfrm>
          <a:prstGeom prst="roundRect">
            <a:avLst>
              <a:gd name="adj" fmla="val 8000"/>
            </a:avLst>
          </a:prstGeom>
          <a:solidFill>
            <a:srgbClr val="E8E3D8"/>
          </a:solidFill>
          <a:ln/>
        </p:spPr>
        <p:txBody>
          <a:bodyPr/>
          <a:lstStyle/>
          <a:p>
            <a:endParaRPr lang="en-ZA"/>
          </a:p>
        </p:txBody>
      </p:sp>
      <p:sp>
        <p:nvSpPr>
          <p:cNvPr id="13" name="Text 11"/>
          <p:cNvSpPr txBox="1"/>
          <p:nvPr/>
        </p:nvSpPr>
        <p:spPr>
          <a:xfrm>
            <a:off x="6370168" y="3520440"/>
            <a:ext cx="2293544" cy="1371600"/>
          </a:xfrm>
          <a:prstGeom prst="rect">
            <a:avLst/>
          </a:prstGeom>
          <a:noFill/>
          <a:ln/>
        </p:spPr>
        <p:txBody>
          <a:bodyPr wrap="square" lIns="0" tIns="0" rIns="0" bIns="0" rtlCol="0" anchor="ctr"/>
          <a:lstStyle/>
          <a:p>
            <a:pPr marL="0" indent="0" algn="ctr">
              <a:lnSpc>
                <a:spcPct val="110000"/>
              </a:lnSpc>
              <a:buNone/>
            </a:pPr>
            <a:r>
              <a:rPr lang="en-US" sz="1300" dirty="0">
                <a:solidFill>
                  <a:srgbClr val="322F29"/>
                </a:solidFill>
                <a:latin typeface="Inter" pitchFamily="34" charset="0"/>
                <a:ea typeface="Inter" pitchFamily="34" charset="-122"/>
                <a:cs typeface="Inter" pitchFamily="34" charset="-120"/>
              </a:rPr>
              <a:t>Accidentally deleted setup scripts</a:t>
            </a:r>
            <a:endParaRPr lang="en-US" sz="1300" dirty="0"/>
          </a:p>
        </p:txBody>
      </p:sp>
      <p:sp>
        <p:nvSpPr>
          <p:cNvPr id="14" name="Shape 12"/>
          <p:cNvSpPr/>
          <p:nvPr/>
        </p:nvSpPr>
        <p:spPr>
          <a:xfrm>
            <a:off x="9075191" y="3520440"/>
            <a:ext cx="2567864" cy="1371600"/>
          </a:xfrm>
          <a:prstGeom prst="roundRect">
            <a:avLst>
              <a:gd name="adj" fmla="val 8000"/>
            </a:avLst>
          </a:prstGeom>
          <a:solidFill>
            <a:srgbClr val="E8E3D8"/>
          </a:solidFill>
          <a:ln/>
        </p:spPr>
        <p:txBody>
          <a:bodyPr/>
          <a:lstStyle/>
          <a:p>
            <a:endParaRPr lang="en-ZA"/>
          </a:p>
        </p:txBody>
      </p:sp>
      <p:sp>
        <p:nvSpPr>
          <p:cNvPr id="15" name="Text 13"/>
          <p:cNvSpPr txBox="1"/>
          <p:nvPr/>
        </p:nvSpPr>
        <p:spPr>
          <a:xfrm>
            <a:off x="9212351" y="3520440"/>
            <a:ext cx="2293544" cy="1371600"/>
          </a:xfrm>
          <a:prstGeom prst="rect">
            <a:avLst/>
          </a:prstGeom>
          <a:noFill/>
          <a:ln/>
        </p:spPr>
        <p:txBody>
          <a:bodyPr wrap="square" lIns="0" tIns="0" rIns="0" bIns="0" rtlCol="0" anchor="ctr"/>
          <a:lstStyle/>
          <a:p>
            <a:pPr marL="0" indent="0" algn="ctr">
              <a:lnSpc>
                <a:spcPct val="110000"/>
              </a:lnSpc>
              <a:buNone/>
            </a:pPr>
            <a:r>
              <a:rPr lang="en-US" sz="1300" dirty="0">
                <a:solidFill>
                  <a:srgbClr val="322F29"/>
                </a:solidFill>
                <a:latin typeface="Inter" pitchFamily="34" charset="0"/>
                <a:ea typeface="Inter" pitchFamily="34" charset="-122"/>
                <a:cs typeface="Inter" pitchFamily="34" charset="-120"/>
              </a:rPr>
              <a:t>Locale price-format bug</a:t>
            </a:r>
            <a:endParaRPr lang="en-US" sz="1300" dirty="0"/>
          </a:p>
        </p:txBody>
      </p:sp>
      <p:sp>
        <p:nvSpPr>
          <p:cNvPr id="16" name="Text 14"/>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7" name="Text 15"/>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PROCESS</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How we worked (DevOps)</a:t>
            </a:r>
            <a:endParaRPr lang="en-US" sz="3000" dirty="0"/>
          </a:p>
        </p:txBody>
      </p:sp>
      <p:sp>
        <p:nvSpPr>
          <p:cNvPr id="4" name="Shape 2"/>
          <p:cNvSpPr/>
          <p:nvPr/>
        </p:nvSpPr>
        <p:spPr>
          <a:xfrm>
            <a:off x="548640" y="2286000"/>
            <a:ext cx="1658569" cy="1051560"/>
          </a:xfrm>
          <a:prstGeom prst="roundRect">
            <a:avLst>
              <a:gd name="adj" fmla="val 8696"/>
            </a:avLst>
          </a:prstGeom>
          <a:solidFill>
            <a:srgbClr val="E8E3D8"/>
          </a:solidFill>
          <a:ln w="12700">
            <a:solidFill>
              <a:srgbClr val="C9BFA8"/>
            </a:solidFill>
            <a:prstDash val="solid"/>
          </a:ln>
        </p:spPr>
        <p:txBody>
          <a:bodyPr/>
          <a:lstStyle/>
          <a:p>
            <a:endParaRPr lang="en-ZA"/>
          </a:p>
        </p:txBody>
      </p:sp>
      <p:sp>
        <p:nvSpPr>
          <p:cNvPr id="5" name="Text 3"/>
          <p:cNvSpPr txBox="1"/>
          <p:nvPr/>
        </p:nvSpPr>
        <p:spPr>
          <a:xfrm>
            <a:off x="548640" y="2286000"/>
            <a:ext cx="1658569" cy="105156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Feature</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branch</a:t>
            </a:r>
            <a:endParaRPr lang="en-US" sz="1300" dirty="0"/>
          </a:p>
        </p:txBody>
      </p:sp>
      <p:sp>
        <p:nvSpPr>
          <p:cNvPr id="6" name="Shape 4"/>
          <p:cNvSpPr/>
          <p:nvPr/>
        </p:nvSpPr>
        <p:spPr>
          <a:xfrm>
            <a:off x="2207209" y="2811780"/>
            <a:ext cx="228600" cy="9144"/>
          </a:xfrm>
          <a:prstGeom prst="line">
            <a:avLst/>
          </a:prstGeom>
          <a:noFill/>
          <a:ln w="19050">
            <a:solidFill>
              <a:srgbClr val="726C5E"/>
            </a:solidFill>
            <a:prstDash val="solid"/>
            <a:tailEnd type="triangle"/>
          </a:ln>
        </p:spPr>
        <p:txBody>
          <a:bodyPr/>
          <a:lstStyle/>
          <a:p>
            <a:endParaRPr lang="en-ZA"/>
          </a:p>
        </p:txBody>
      </p:sp>
      <p:sp>
        <p:nvSpPr>
          <p:cNvPr id="7" name="Shape 5"/>
          <p:cNvSpPr/>
          <p:nvPr/>
        </p:nvSpPr>
        <p:spPr>
          <a:xfrm>
            <a:off x="2435809" y="2286000"/>
            <a:ext cx="1658569" cy="1051560"/>
          </a:xfrm>
          <a:prstGeom prst="roundRect">
            <a:avLst>
              <a:gd name="adj" fmla="val 8696"/>
            </a:avLst>
          </a:prstGeom>
          <a:solidFill>
            <a:srgbClr val="E8E3D8"/>
          </a:solidFill>
          <a:ln w="12700">
            <a:solidFill>
              <a:srgbClr val="C9BFA8"/>
            </a:solidFill>
            <a:prstDash val="solid"/>
          </a:ln>
        </p:spPr>
        <p:txBody>
          <a:bodyPr/>
          <a:lstStyle/>
          <a:p>
            <a:endParaRPr lang="en-ZA"/>
          </a:p>
        </p:txBody>
      </p:sp>
      <p:sp>
        <p:nvSpPr>
          <p:cNvPr id="8" name="Text 6"/>
          <p:cNvSpPr txBox="1"/>
          <p:nvPr/>
        </p:nvSpPr>
        <p:spPr>
          <a:xfrm>
            <a:off x="2435809" y="2286000"/>
            <a:ext cx="1658569" cy="105156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Pull</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request</a:t>
            </a:r>
            <a:endParaRPr lang="en-US" sz="1300" dirty="0"/>
          </a:p>
        </p:txBody>
      </p:sp>
      <p:sp>
        <p:nvSpPr>
          <p:cNvPr id="9" name="Shape 7"/>
          <p:cNvSpPr/>
          <p:nvPr/>
        </p:nvSpPr>
        <p:spPr>
          <a:xfrm>
            <a:off x="4094378" y="2811780"/>
            <a:ext cx="228600" cy="9144"/>
          </a:xfrm>
          <a:prstGeom prst="line">
            <a:avLst/>
          </a:prstGeom>
          <a:noFill/>
          <a:ln w="19050">
            <a:solidFill>
              <a:srgbClr val="726C5E"/>
            </a:solidFill>
            <a:prstDash val="solid"/>
            <a:tailEnd type="triangle"/>
          </a:ln>
        </p:spPr>
        <p:txBody>
          <a:bodyPr/>
          <a:lstStyle/>
          <a:p>
            <a:endParaRPr lang="en-ZA"/>
          </a:p>
        </p:txBody>
      </p:sp>
      <p:sp>
        <p:nvSpPr>
          <p:cNvPr id="10" name="Shape 8"/>
          <p:cNvSpPr/>
          <p:nvPr/>
        </p:nvSpPr>
        <p:spPr>
          <a:xfrm>
            <a:off x="4322978" y="2286000"/>
            <a:ext cx="1658569" cy="1051560"/>
          </a:xfrm>
          <a:prstGeom prst="roundRect">
            <a:avLst>
              <a:gd name="adj" fmla="val 8696"/>
            </a:avLst>
          </a:prstGeom>
          <a:solidFill>
            <a:srgbClr val="E8E3D8"/>
          </a:solidFill>
          <a:ln w="12700">
            <a:solidFill>
              <a:srgbClr val="C9BFA8"/>
            </a:solidFill>
            <a:prstDash val="solid"/>
          </a:ln>
        </p:spPr>
        <p:txBody>
          <a:bodyPr/>
          <a:lstStyle/>
          <a:p>
            <a:endParaRPr lang="en-ZA"/>
          </a:p>
        </p:txBody>
      </p:sp>
      <p:sp>
        <p:nvSpPr>
          <p:cNvPr id="11" name="Text 9"/>
          <p:cNvSpPr txBox="1"/>
          <p:nvPr/>
        </p:nvSpPr>
        <p:spPr>
          <a:xfrm>
            <a:off x="4322978" y="2286000"/>
            <a:ext cx="1658569" cy="105156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CI</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build · scan · test · smoke</a:t>
            </a:r>
            <a:endParaRPr lang="en-US" sz="1300" dirty="0"/>
          </a:p>
        </p:txBody>
      </p:sp>
      <p:sp>
        <p:nvSpPr>
          <p:cNvPr id="12" name="Shape 10"/>
          <p:cNvSpPr/>
          <p:nvPr/>
        </p:nvSpPr>
        <p:spPr>
          <a:xfrm>
            <a:off x="5981548" y="2811780"/>
            <a:ext cx="228600" cy="9144"/>
          </a:xfrm>
          <a:prstGeom prst="line">
            <a:avLst/>
          </a:prstGeom>
          <a:noFill/>
          <a:ln w="19050">
            <a:solidFill>
              <a:srgbClr val="726C5E"/>
            </a:solidFill>
            <a:prstDash val="solid"/>
            <a:tailEnd type="triangle"/>
          </a:ln>
        </p:spPr>
        <p:txBody>
          <a:bodyPr/>
          <a:lstStyle/>
          <a:p>
            <a:endParaRPr lang="en-ZA"/>
          </a:p>
        </p:txBody>
      </p:sp>
      <p:sp>
        <p:nvSpPr>
          <p:cNvPr id="13" name="Shape 11"/>
          <p:cNvSpPr/>
          <p:nvPr/>
        </p:nvSpPr>
        <p:spPr>
          <a:xfrm>
            <a:off x="6210148" y="2286000"/>
            <a:ext cx="1658569" cy="1051560"/>
          </a:xfrm>
          <a:prstGeom prst="roundRect">
            <a:avLst>
              <a:gd name="adj" fmla="val 8696"/>
            </a:avLst>
          </a:prstGeom>
          <a:solidFill>
            <a:srgbClr val="E8E3D8"/>
          </a:solidFill>
          <a:ln w="12700">
            <a:solidFill>
              <a:srgbClr val="C9BFA8"/>
            </a:solidFill>
            <a:prstDash val="solid"/>
          </a:ln>
        </p:spPr>
        <p:txBody>
          <a:bodyPr/>
          <a:lstStyle/>
          <a:p>
            <a:endParaRPr lang="en-ZA"/>
          </a:p>
        </p:txBody>
      </p:sp>
      <p:sp>
        <p:nvSpPr>
          <p:cNvPr id="14" name="Text 12"/>
          <p:cNvSpPr txBox="1"/>
          <p:nvPr/>
        </p:nvSpPr>
        <p:spPr>
          <a:xfrm>
            <a:off x="6210148" y="2286000"/>
            <a:ext cx="1658569" cy="105156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Review</a:t>
            </a:r>
            <a:endParaRPr lang="en-US" sz="1300" dirty="0"/>
          </a:p>
          <a:p>
            <a:pPr marL="0" indent="0" algn="ctr">
              <a:buNone/>
            </a:pPr>
            <a:r>
              <a:rPr lang="en-US" sz="900" dirty="0">
                <a:solidFill>
                  <a:srgbClr val="726C5E"/>
                </a:solidFill>
                <a:latin typeface="JetBrains Mono" pitchFamily="34" charset="0"/>
                <a:ea typeface="JetBrains Mono" pitchFamily="34" charset="-122"/>
                <a:cs typeface="JetBrains Mono" pitchFamily="34" charset="-120"/>
              </a:rPr>
              <a:t>1 approval req.</a:t>
            </a:r>
            <a:endParaRPr lang="en-US" sz="1300" dirty="0"/>
          </a:p>
        </p:txBody>
      </p:sp>
      <p:sp>
        <p:nvSpPr>
          <p:cNvPr id="15" name="Shape 13"/>
          <p:cNvSpPr/>
          <p:nvPr/>
        </p:nvSpPr>
        <p:spPr>
          <a:xfrm>
            <a:off x="7868717" y="2811780"/>
            <a:ext cx="228600" cy="9144"/>
          </a:xfrm>
          <a:prstGeom prst="line">
            <a:avLst/>
          </a:prstGeom>
          <a:noFill/>
          <a:ln w="19050">
            <a:solidFill>
              <a:srgbClr val="726C5E"/>
            </a:solidFill>
            <a:prstDash val="solid"/>
            <a:tailEnd type="triangle"/>
          </a:ln>
        </p:spPr>
        <p:txBody>
          <a:bodyPr/>
          <a:lstStyle/>
          <a:p>
            <a:endParaRPr lang="en-ZA"/>
          </a:p>
        </p:txBody>
      </p:sp>
      <p:sp>
        <p:nvSpPr>
          <p:cNvPr id="16" name="Shape 14"/>
          <p:cNvSpPr/>
          <p:nvPr/>
        </p:nvSpPr>
        <p:spPr>
          <a:xfrm>
            <a:off x="8097317" y="2286000"/>
            <a:ext cx="1658569" cy="1051560"/>
          </a:xfrm>
          <a:prstGeom prst="roundRect">
            <a:avLst>
              <a:gd name="adj" fmla="val 8696"/>
            </a:avLst>
          </a:prstGeom>
          <a:solidFill>
            <a:srgbClr val="E8E3D8"/>
          </a:solidFill>
          <a:ln w="12700">
            <a:solidFill>
              <a:srgbClr val="C9BFA8"/>
            </a:solidFill>
            <a:prstDash val="solid"/>
          </a:ln>
        </p:spPr>
        <p:txBody>
          <a:bodyPr/>
          <a:lstStyle/>
          <a:p>
            <a:endParaRPr lang="en-ZA"/>
          </a:p>
        </p:txBody>
      </p:sp>
      <p:sp>
        <p:nvSpPr>
          <p:cNvPr id="17" name="Text 15"/>
          <p:cNvSpPr txBox="1"/>
          <p:nvPr/>
        </p:nvSpPr>
        <p:spPr>
          <a:xfrm>
            <a:off x="8097317" y="2286000"/>
            <a:ext cx="1658569" cy="1051560"/>
          </a:xfrm>
          <a:prstGeom prst="rect">
            <a:avLst/>
          </a:prstGeom>
          <a:noFill/>
          <a:ln/>
        </p:spPr>
        <p:txBody>
          <a:bodyPr wrap="square" lIns="0" tIns="0" rIns="0" bIns="0" rtlCol="0" anchor="ctr"/>
          <a:lstStyle/>
          <a:p>
            <a:pPr marL="0" indent="0" algn="ctr">
              <a:buNone/>
            </a:pPr>
            <a:r>
              <a:rPr lang="en-US" sz="1300" b="1" dirty="0">
                <a:solidFill>
                  <a:srgbClr val="55503F"/>
                </a:solidFill>
                <a:latin typeface="Outfit" pitchFamily="34" charset="0"/>
                <a:ea typeface="Outfit" pitchFamily="34" charset="-122"/>
                <a:cs typeface="Outfit" pitchFamily="34" charset="-120"/>
              </a:rPr>
              <a:t>Merge</a:t>
            </a:r>
            <a:endParaRPr lang="en-US" sz="1300" dirty="0"/>
          </a:p>
        </p:txBody>
      </p:sp>
      <p:sp>
        <p:nvSpPr>
          <p:cNvPr id="18" name="Shape 16"/>
          <p:cNvSpPr/>
          <p:nvPr/>
        </p:nvSpPr>
        <p:spPr>
          <a:xfrm>
            <a:off x="9755886" y="2811780"/>
            <a:ext cx="228600" cy="9144"/>
          </a:xfrm>
          <a:prstGeom prst="line">
            <a:avLst/>
          </a:prstGeom>
          <a:noFill/>
          <a:ln w="19050">
            <a:solidFill>
              <a:srgbClr val="726C5E"/>
            </a:solidFill>
            <a:prstDash val="solid"/>
            <a:tailEnd type="triangle"/>
          </a:ln>
        </p:spPr>
        <p:txBody>
          <a:bodyPr/>
          <a:lstStyle/>
          <a:p>
            <a:endParaRPr lang="en-ZA"/>
          </a:p>
        </p:txBody>
      </p:sp>
      <p:sp>
        <p:nvSpPr>
          <p:cNvPr id="19" name="Shape 17"/>
          <p:cNvSpPr/>
          <p:nvPr/>
        </p:nvSpPr>
        <p:spPr>
          <a:xfrm>
            <a:off x="9984486" y="2286000"/>
            <a:ext cx="1658569" cy="1051560"/>
          </a:xfrm>
          <a:prstGeom prst="roundRect">
            <a:avLst>
              <a:gd name="adj" fmla="val 8696"/>
            </a:avLst>
          </a:prstGeom>
          <a:solidFill>
            <a:srgbClr val="1F5C57"/>
          </a:solidFill>
          <a:ln w="12700">
            <a:solidFill>
              <a:srgbClr val="C9BFA8"/>
            </a:solidFill>
            <a:prstDash val="solid"/>
          </a:ln>
        </p:spPr>
        <p:txBody>
          <a:bodyPr/>
          <a:lstStyle/>
          <a:p>
            <a:endParaRPr lang="en-ZA"/>
          </a:p>
        </p:txBody>
      </p:sp>
      <p:sp>
        <p:nvSpPr>
          <p:cNvPr id="20" name="Text 18"/>
          <p:cNvSpPr txBox="1"/>
          <p:nvPr/>
        </p:nvSpPr>
        <p:spPr>
          <a:xfrm>
            <a:off x="9984486" y="2286000"/>
            <a:ext cx="1658569" cy="1051560"/>
          </a:xfrm>
          <a:prstGeom prst="rect">
            <a:avLst/>
          </a:prstGeom>
          <a:noFill/>
          <a:ln/>
        </p:spPr>
        <p:txBody>
          <a:bodyPr wrap="square" lIns="0" tIns="0" rIns="0" bIns="0" rtlCol="0" anchor="ctr"/>
          <a:lstStyle/>
          <a:p>
            <a:pPr marL="0" indent="0" algn="ctr">
              <a:buNone/>
            </a:pPr>
            <a:r>
              <a:rPr lang="en-US" sz="1300" b="1" dirty="0">
                <a:solidFill>
                  <a:srgbClr val="F3EAE3"/>
                </a:solidFill>
                <a:latin typeface="Outfit" pitchFamily="34" charset="0"/>
                <a:ea typeface="Outfit" pitchFamily="34" charset="-122"/>
                <a:cs typeface="Outfit" pitchFamily="34" charset="-120"/>
              </a:rPr>
              <a:t>Auto deploy</a:t>
            </a:r>
            <a:endParaRPr lang="en-US" sz="1300" dirty="0"/>
          </a:p>
          <a:p>
            <a:pPr marL="0" indent="0" algn="ctr">
              <a:buNone/>
            </a:pPr>
            <a:r>
              <a:rPr lang="en-US" sz="900" dirty="0">
                <a:solidFill>
                  <a:srgbClr val="F3EAE3"/>
                </a:solidFill>
                <a:latin typeface="JetBrains Mono" pitchFamily="34" charset="0"/>
                <a:ea typeface="JetBrains Mono" pitchFamily="34" charset="-122"/>
                <a:cs typeface="JetBrains Mono" pitchFamily="34" charset="-120"/>
              </a:rPr>
              <a:t>to Render</a:t>
            </a:r>
            <a:endParaRPr lang="en-US" sz="1300" dirty="0"/>
          </a:p>
        </p:txBody>
      </p:sp>
      <p:sp>
        <p:nvSpPr>
          <p:cNvPr id="21" name="Shape 19"/>
          <p:cNvSpPr/>
          <p:nvPr/>
        </p:nvSpPr>
        <p:spPr>
          <a:xfrm>
            <a:off x="548640" y="3794760"/>
            <a:ext cx="5410048" cy="777240"/>
          </a:xfrm>
          <a:prstGeom prst="roundRect">
            <a:avLst>
              <a:gd name="adj" fmla="val 11765"/>
            </a:avLst>
          </a:prstGeom>
          <a:solidFill>
            <a:srgbClr val="E8E3D8"/>
          </a:solidFill>
          <a:ln/>
        </p:spPr>
        <p:txBody>
          <a:bodyPr/>
          <a:lstStyle/>
          <a:p>
            <a:endParaRPr lang="en-ZA"/>
          </a:p>
        </p:txBody>
      </p:sp>
      <p:sp>
        <p:nvSpPr>
          <p:cNvPr id="22" name="Text 20"/>
          <p:cNvSpPr txBox="1"/>
          <p:nvPr/>
        </p:nvSpPr>
        <p:spPr>
          <a:xfrm>
            <a:off x="822960" y="3794760"/>
            <a:ext cx="4861408" cy="777240"/>
          </a:xfrm>
          <a:prstGeom prst="rect">
            <a:avLst/>
          </a:prstGeom>
          <a:noFill/>
          <a:ln/>
        </p:spPr>
        <p:txBody>
          <a:bodyPr wrap="square" lIns="0" tIns="0" rIns="0" bIns="0" rtlCol="0" anchor="ctr"/>
          <a:lstStyle/>
          <a:p>
            <a:pPr marL="0" indent="0" algn="l">
              <a:lnSpc>
                <a:spcPct val="110000"/>
              </a:lnSpc>
              <a:buNone/>
            </a:pPr>
            <a:r>
              <a:rPr lang="en-US" sz="1300" i="1" dirty="0">
                <a:solidFill>
                  <a:srgbClr val="55503F"/>
                </a:solidFill>
                <a:latin typeface="Inter" pitchFamily="34" charset="0"/>
                <a:ea typeface="Inter" pitchFamily="34" charset="-122"/>
                <a:cs typeface="Inter" pitchFamily="34" charset="-120"/>
              </a:rPr>
              <a:t>Secrets live only in Render's dashboard.</a:t>
            </a:r>
            <a:endParaRPr lang="en-US" sz="1300" dirty="0"/>
          </a:p>
        </p:txBody>
      </p:sp>
      <p:sp>
        <p:nvSpPr>
          <p:cNvPr id="23" name="Shape 21"/>
          <p:cNvSpPr/>
          <p:nvPr/>
        </p:nvSpPr>
        <p:spPr>
          <a:xfrm>
            <a:off x="6233008" y="3794760"/>
            <a:ext cx="5410048" cy="777240"/>
          </a:xfrm>
          <a:prstGeom prst="roundRect">
            <a:avLst>
              <a:gd name="adj" fmla="val 9412"/>
            </a:avLst>
          </a:prstGeom>
          <a:solidFill>
            <a:srgbClr val="F6E4DE"/>
          </a:solidFill>
          <a:ln w="15875">
            <a:solidFill>
              <a:srgbClr val="7C3626"/>
            </a:solidFill>
            <a:prstDash val="solid"/>
          </a:ln>
        </p:spPr>
        <p:txBody>
          <a:bodyPr/>
          <a:lstStyle/>
          <a:p>
            <a:endParaRPr lang="en-ZA"/>
          </a:p>
        </p:txBody>
      </p:sp>
      <p:sp>
        <p:nvSpPr>
          <p:cNvPr id="24" name="Text 22"/>
          <p:cNvSpPr txBox="1"/>
          <p:nvPr/>
        </p:nvSpPr>
        <p:spPr>
          <a:xfrm>
            <a:off x="6415888" y="3794760"/>
            <a:ext cx="5044288" cy="777240"/>
          </a:xfrm>
          <a:prstGeom prst="rect">
            <a:avLst/>
          </a:prstGeom>
          <a:noFill/>
          <a:ln/>
        </p:spPr>
        <p:txBody>
          <a:bodyPr wrap="square" lIns="0" tIns="0" rIns="0" bIns="0" rtlCol="0" anchor="ctr"/>
          <a:lstStyle/>
          <a:p>
            <a:pPr marL="0" indent="0" algn="l">
              <a:lnSpc>
                <a:spcPct val="115000"/>
              </a:lnSpc>
              <a:buNone/>
            </a:pPr>
            <a:r>
              <a:rPr lang="en-US" sz="1100" b="1" dirty="0">
                <a:solidFill>
                  <a:srgbClr val="7C3626"/>
                </a:solidFill>
                <a:latin typeface="JetBrains Mono" pitchFamily="34" charset="0"/>
                <a:ea typeface="JetBrains Mono" pitchFamily="34" charset="-122"/>
                <a:cs typeface="JetBrains Mono" pitchFamily="34" charset="-120"/>
              </a:rPr>
              <a:t>LESSON LEARNED: branch protection was switched on mid-project, after a merge bypassed review.</a:t>
            </a:r>
            <a:endParaRPr lang="en-US" sz="1100" dirty="0"/>
          </a:p>
        </p:txBody>
      </p:sp>
      <p:sp>
        <p:nvSpPr>
          <p:cNvPr id="25" name="Text 23"/>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26" name="Text 24"/>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THE TEAM</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Team contributions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2875623278"/>
              </p:ext>
            </p:extLst>
          </p:nvPr>
        </p:nvGraphicFramePr>
        <p:xfrm>
          <a:off x="548640" y="1874520"/>
          <a:ext cx="11094415" cy="4343400"/>
        </p:xfrm>
        <a:graphic>
          <a:graphicData uri="http://schemas.openxmlformats.org/drawingml/2006/table">
            <a:tbl>
              <a:tblPr/>
              <a:tblGrid>
                <a:gridCol w="1737360">
                  <a:extLst>
                    <a:ext uri="{9D8B030D-6E8A-4147-A177-3AD203B41FA5}">
                      <a16:colId xmlns:a16="http://schemas.microsoft.com/office/drawing/2014/main" val="20000"/>
                    </a:ext>
                  </a:extLst>
                </a:gridCol>
                <a:gridCol w="9357055">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F3EAE3"/>
                          </a:solidFill>
                          <a:latin typeface="Outfit" pitchFamily="34" charset="0"/>
                          <a:ea typeface="Outfit" pitchFamily="34" charset="-122"/>
                          <a:cs typeface="Outfit" pitchFamily="34" charset="-120"/>
                        </a:rPr>
                        <a:t>Team Member</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7C3626"/>
                    </a:solidFill>
                  </a:tcPr>
                </a:tc>
                <a:tc>
                  <a:txBody>
                    <a:bodyPr/>
                    <a:lstStyle/>
                    <a:p>
                      <a:pPr marL="0" indent="0">
                        <a:buNone/>
                      </a:pPr>
                      <a:r>
                        <a:rPr lang="en-US" sz="1300" b="1" dirty="0">
                          <a:solidFill>
                            <a:srgbClr val="F3EAE3"/>
                          </a:solidFill>
                          <a:latin typeface="Outfit" pitchFamily="34" charset="0"/>
                          <a:ea typeface="Outfit" pitchFamily="34" charset="-122"/>
                          <a:cs typeface="Outfit" pitchFamily="34" charset="-120"/>
                        </a:rPr>
                        <a:t>Contribution</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7C3626"/>
                    </a:solidFill>
                  </a:tcPr>
                </a:tc>
                <a:extLst>
                  <a:ext uri="{0D108BD9-81ED-4DB2-BD59-A6C34878D82A}">
                    <a16:rowId xmlns:a16="http://schemas.microsoft.com/office/drawing/2014/main" val="10000"/>
                  </a:ext>
                </a:extLst>
              </a:tr>
              <a:tr h="960120">
                <a:tc>
                  <a:txBody>
                    <a:bodyPr/>
                    <a:lstStyle/>
                    <a:p>
                      <a:pPr marL="0" indent="0">
                        <a:buNone/>
                      </a:pPr>
                      <a:r>
                        <a:rPr lang="en-US" sz="1300" b="1" dirty="0">
                          <a:solidFill>
                            <a:srgbClr val="55503F"/>
                          </a:solidFill>
                          <a:latin typeface="Outfit" pitchFamily="34" charset="0"/>
                          <a:ea typeface="Outfit" pitchFamily="34" charset="-122"/>
                          <a:cs typeface="Outfit" pitchFamily="34" charset="-120"/>
                        </a:rPr>
                        <a:t>Zario</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DED7C6"/>
                    </a:solidFill>
                  </a:tcPr>
                </a:tc>
                <a:tc>
                  <a:txBody>
                    <a:bodyPr/>
                    <a:lstStyle/>
                    <a:p>
                      <a:pPr marL="0" indent="0">
                        <a:buNone/>
                      </a:pPr>
                      <a:r>
                        <a:rPr lang="en-US" sz="1250" dirty="0">
                          <a:solidFill>
                            <a:srgbClr val="322F29"/>
                          </a:solidFill>
                          <a:latin typeface="Inter" pitchFamily="34" charset="0"/>
                          <a:ea typeface="Inter" pitchFamily="34" charset="-122"/>
                          <a:cs typeface="Inter" pitchFamily="34" charset="-120"/>
                        </a:rPr>
                        <a:t>Booking API, MongoDB design, transactions, Atlas scripts, barber skills; reviewed and merged multiple PRs.</a:t>
                      </a:r>
                      <a:endParaRPr lang="en-US" sz="1250" dirty="0">
                        <a:latin typeface="Inter" charset="0"/>
                        <a:ea typeface="Inter" charset="0"/>
                        <a:cs typeface="Inter"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DED7C6"/>
                    </a:solidFill>
                  </a:tcPr>
                </a:tc>
                <a:extLst>
                  <a:ext uri="{0D108BD9-81ED-4DB2-BD59-A6C34878D82A}">
                    <a16:rowId xmlns:a16="http://schemas.microsoft.com/office/drawing/2014/main" val="10001"/>
                  </a:ext>
                </a:extLst>
              </a:tr>
              <a:tr h="960120">
                <a:tc>
                  <a:txBody>
                    <a:bodyPr/>
                    <a:lstStyle/>
                    <a:p>
                      <a:pPr marL="0" indent="0">
                        <a:buNone/>
                      </a:pPr>
                      <a:r>
                        <a:rPr lang="en-US" sz="1300" b="1" dirty="0">
                          <a:solidFill>
                            <a:srgbClr val="55503F"/>
                          </a:solidFill>
                          <a:latin typeface="Outfit" pitchFamily="34" charset="0"/>
                          <a:ea typeface="Outfit" pitchFamily="34" charset="-122"/>
                          <a:cs typeface="Outfit" pitchFamily="34" charset="-120"/>
                        </a:rPr>
                        <a:t>Gregory</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E8E3D8"/>
                    </a:solidFill>
                  </a:tcPr>
                </a:tc>
                <a:tc>
                  <a:txBody>
                    <a:bodyPr/>
                    <a:lstStyle/>
                    <a:p>
                      <a:pPr marL="0" indent="0">
                        <a:buNone/>
                      </a:pPr>
                      <a:r>
                        <a:rPr lang="en-US" sz="1250" dirty="0">
                          <a:solidFill>
                            <a:srgbClr val="322F29"/>
                          </a:solidFill>
                          <a:latin typeface="Inter" pitchFamily="34" charset="0"/>
                          <a:ea typeface="Inter" pitchFamily="34" charset="-122"/>
                          <a:cs typeface="Inter" pitchFamily="34" charset="-120"/>
                        </a:rPr>
                        <a:t>MVC front end, barber schedule, role-based navigation, admin screens, landing page, accessibility work.</a:t>
                      </a:r>
                      <a:endParaRPr lang="en-US" sz="1250" dirty="0">
                        <a:latin typeface="Inter" charset="0"/>
                        <a:ea typeface="Inter" charset="0"/>
                        <a:cs typeface="Inter"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E8E3D8"/>
                    </a:solidFill>
                  </a:tcPr>
                </a:tc>
                <a:extLst>
                  <a:ext uri="{0D108BD9-81ED-4DB2-BD59-A6C34878D82A}">
                    <a16:rowId xmlns:a16="http://schemas.microsoft.com/office/drawing/2014/main" val="10002"/>
                  </a:ext>
                </a:extLst>
              </a:tr>
              <a:tr h="960120">
                <a:tc>
                  <a:txBody>
                    <a:bodyPr/>
                    <a:lstStyle/>
                    <a:p>
                      <a:pPr marL="0" indent="0">
                        <a:buNone/>
                      </a:pPr>
                      <a:r>
                        <a:rPr lang="en-US" sz="1300" b="1" dirty="0">
                          <a:solidFill>
                            <a:srgbClr val="55503F"/>
                          </a:solidFill>
                          <a:latin typeface="Outfit" pitchFamily="34" charset="0"/>
                          <a:ea typeface="Outfit" pitchFamily="34" charset="-122"/>
                          <a:cs typeface="Outfit" pitchFamily="34" charset="-120"/>
                        </a:rPr>
                        <a:t>Kyra</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DED7C6"/>
                    </a:solidFill>
                  </a:tcPr>
                </a:tc>
                <a:tc>
                  <a:txBody>
                    <a:bodyPr/>
                    <a:lstStyle/>
                    <a:p>
                      <a:pPr marL="0" indent="0">
                        <a:buNone/>
                      </a:pPr>
                      <a:r>
                        <a:rPr lang="en-US" sz="1250" b="0" i="0" dirty="0">
                          <a:solidFill>
                            <a:schemeClr val="tx1"/>
                          </a:solidFill>
                          <a:latin typeface="Inter" pitchFamily="34" charset="0"/>
                          <a:ea typeface="Inter" pitchFamily="34" charset="-122"/>
                          <a:cs typeface="Inter" pitchFamily="34" charset="-120"/>
                        </a:rPr>
                        <a:t>Built Auth0 sign-up, login and logout with role checks, plus booking emails through Brevo and completed-visit reviews, all with tests.</a:t>
                      </a:r>
                      <a:endParaRPr lang="en-US" sz="1250" b="0" i="0" dirty="0">
                        <a:solidFill>
                          <a:schemeClr val="tx1"/>
                        </a:solidFill>
                        <a:latin typeface="Inter" charset="0"/>
                        <a:ea typeface="Inter" charset="0"/>
                        <a:cs typeface="Inter"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DED7C6"/>
                    </a:solidFill>
                  </a:tcPr>
                </a:tc>
                <a:extLst>
                  <a:ext uri="{0D108BD9-81ED-4DB2-BD59-A6C34878D82A}">
                    <a16:rowId xmlns:a16="http://schemas.microsoft.com/office/drawing/2014/main" val="10003"/>
                  </a:ext>
                </a:extLst>
              </a:tr>
              <a:tr h="960120">
                <a:tc>
                  <a:txBody>
                    <a:bodyPr/>
                    <a:lstStyle/>
                    <a:p>
                      <a:pPr marL="0" indent="0">
                        <a:buNone/>
                      </a:pPr>
                      <a:r>
                        <a:rPr lang="en-US" sz="1300" b="1" dirty="0">
                          <a:solidFill>
                            <a:srgbClr val="55503F"/>
                          </a:solidFill>
                          <a:latin typeface="Outfit" pitchFamily="34" charset="0"/>
                          <a:ea typeface="Outfit" pitchFamily="34" charset="-122"/>
                          <a:cs typeface="Outfit" pitchFamily="34" charset="-120"/>
                        </a:rPr>
                        <a:t>Kaehil</a:t>
                      </a:r>
                      <a:endParaRPr lang="en-US" sz="1300" dirty="0">
                        <a:latin typeface="Outfit" charset="0"/>
                        <a:ea typeface="Outfit" charset="0"/>
                        <a:cs typeface="Outfit"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E8E3D8"/>
                    </a:solidFill>
                  </a:tcPr>
                </a:tc>
                <a:tc>
                  <a:txBody>
                    <a:bodyPr/>
                    <a:lstStyle/>
                    <a:p>
                      <a:pPr marL="0" indent="0">
                        <a:buNone/>
                      </a:pPr>
                      <a:r>
                        <a:rPr lang="en-US" sz="1250" b="0" i="0" dirty="0">
                          <a:solidFill>
                            <a:schemeClr val="tx1"/>
                          </a:solidFill>
                          <a:latin typeface="Inter" pitchFamily="34" charset="0"/>
                          <a:ea typeface="Inter" pitchFamily="34" charset="-122"/>
                          <a:cs typeface="Inter" pitchFamily="34" charset="-120"/>
                        </a:rPr>
                        <a:t>Led the group and integration, and built the CI pipeline, Docker/Render deployment, the admin catalogue API, security hardening and staff management, while reviewing and merging most of the team's pull requests.</a:t>
                      </a:r>
                      <a:endParaRPr lang="en-US" sz="1250" b="0" i="0" dirty="0">
                        <a:solidFill>
                          <a:schemeClr val="tx1"/>
                        </a:solidFill>
                        <a:latin typeface="Inter" charset="0"/>
                        <a:ea typeface="Inter" charset="0"/>
                        <a:cs typeface="Inter" charset="0"/>
                      </a:endParaRPr>
                    </a:p>
                  </a:txBody>
                  <a:tcPr anchor="ctr">
                    <a:lnL w="9525" cap="flat" cmpd="sng" algn="ctr">
                      <a:solidFill>
                        <a:srgbClr val="C9BFA8"/>
                      </a:solidFill>
                      <a:prstDash val="solid"/>
                      <a:round/>
                      <a:headEnd type="none" w="med" len="med"/>
                      <a:tailEnd type="none" w="med" len="med"/>
                    </a:lnL>
                    <a:lnR w="9525" cap="flat" cmpd="sng" algn="ctr">
                      <a:solidFill>
                        <a:srgbClr val="C9BFA8"/>
                      </a:solidFill>
                      <a:prstDash val="solid"/>
                      <a:round/>
                      <a:headEnd type="none" w="med" len="med"/>
                      <a:tailEnd type="none" w="med" len="med"/>
                    </a:lnR>
                    <a:lnT w="9525" cap="flat" cmpd="sng" algn="ctr">
                      <a:solidFill>
                        <a:srgbClr val="C9BFA8"/>
                      </a:solidFill>
                      <a:prstDash val="solid"/>
                      <a:round/>
                      <a:headEnd type="none" w="med" len="med"/>
                      <a:tailEnd type="none" w="med" len="med"/>
                    </a:lnT>
                    <a:lnB w="9525" cap="flat" cmpd="sng" algn="ctr">
                      <a:solidFill>
                        <a:srgbClr val="C9BFA8"/>
                      </a:solidFill>
                      <a:prstDash val="solid"/>
                      <a:round/>
                      <a:headEnd type="none" w="med" len="med"/>
                      <a:tailEnd type="none" w="med" len="med"/>
                    </a:lnB>
                    <a:solidFill>
                      <a:srgbClr val="E8E3D8"/>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6" name="Text 3"/>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ED7C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ctr"/>
          <a:lstStyle/>
          <a:p>
            <a:pPr marL="0" indent="0">
              <a:buNone/>
            </a:pPr>
            <a:r>
              <a:rPr lang="en-US" sz="1100" b="1" kern="0" spc="200" dirty="0">
                <a:solidFill>
                  <a:srgbClr val="1F5C57"/>
                </a:solidFill>
                <a:latin typeface="JetBrains Mono" pitchFamily="34" charset="0"/>
                <a:ea typeface="JetBrains Mono" pitchFamily="34" charset="-122"/>
                <a:cs typeface="JetBrains Mono" pitchFamily="34" charset="-120"/>
              </a:rPr>
              <a:t>LOOKING AHEAD</a:t>
            </a:r>
            <a:endParaRPr lang="en-US" sz="1100" dirty="0"/>
          </a:p>
        </p:txBody>
      </p:sp>
      <p:sp>
        <p:nvSpPr>
          <p:cNvPr id="3" name="Text 1"/>
          <p:cNvSpPr txBox="1"/>
          <p:nvPr/>
        </p:nvSpPr>
        <p:spPr>
          <a:xfrm>
            <a:off x="548640" y="749808"/>
            <a:ext cx="11094415" cy="658368"/>
          </a:xfrm>
          <a:prstGeom prst="rect">
            <a:avLst/>
          </a:prstGeom>
          <a:noFill/>
          <a:ln/>
        </p:spPr>
        <p:txBody>
          <a:bodyPr wrap="square" lIns="0" tIns="0" rIns="0" bIns="0" rtlCol="0" anchor="ctr"/>
          <a:lstStyle/>
          <a:p>
            <a:pPr marL="0" indent="0">
              <a:buNone/>
            </a:pPr>
            <a:r>
              <a:rPr lang="en-US" sz="3000" b="1" dirty="0">
                <a:solidFill>
                  <a:srgbClr val="55503F"/>
                </a:solidFill>
                <a:latin typeface="Outfit" pitchFamily="34" charset="0"/>
                <a:ea typeface="Outfit" pitchFamily="34" charset="-122"/>
                <a:cs typeface="Outfit" pitchFamily="34" charset="-120"/>
              </a:rPr>
              <a:t>Limitations &amp; next steps</a:t>
            </a:r>
            <a:endParaRPr lang="en-US" sz="3000" dirty="0"/>
          </a:p>
        </p:txBody>
      </p:sp>
      <p:sp>
        <p:nvSpPr>
          <p:cNvPr id="6" name="Shape 4"/>
          <p:cNvSpPr/>
          <p:nvPr/>
        </p:nvSpPr>
        <p:spPr>
          <a:xfrm>
            <a:off x="548640" y="2103120"/>
            <a:ext cx="3454298" cy="3931920"/>
          </a:xfrm>
          <a:prstGeom prst="roundRect">
            <a:avLst>
              <a:gd name="adj" fmla="val 3706"/>
            </a:avLst>
          </a:prstGeom>
          <a:solidFill>
            <a:srgbClr val="E8E3D8"/>
          </a:solidFill>
          <a:ln/>
        </p:spPr>
        <p:txBody>
          <a:bodyPr/>
          <a:lstStyle/>
          <a:p>
            <a:endParaRPr lang="en-ZA"/>
          </a:p>
        </p:txBody>
      </p:sp>
      <p:sp>
        <p:nvSpPr>
          <p:cNvPr id="7" name="Text 5"/>
          <p:cNvSpPr txBox="1"/>
          <p:nvPr/>
        </p:nvSpPr>
        <p:spPr>
          <a:xfrm>
            <a:off x="777240" y="2286000"/>
            <a:ext cx="2997098" cy="365760"/>
          </a:xfrm>
          <a:prstGeom prst="rect">
            <a:avLst/>
          </a:prstGeom>
          <a:noFill/>
          <a:ln/>
        </p:spPr>
        <p:txBody>
          <a:bodyPr wrap="square" lIns="0" tIns="0" rIns="0" bIns="0" rtlCol="0" anchor="ctr"/>
          <a:lstStyle/>
          <a:p>
            <a:pPr marL="0" indent="0">
              <a:buNone/>
            </a:pPr>
            <a:r>
              <a:rPr lang="en-US" sz="1100" b="1" kern="0" spc="100" dirty="0">
                <a:solidFill>
                  <a:srgbClr val="1F5C57"/>
                </a:solidFill>
                <a:latin typeface="JetBrains Mono" pitchFamily="34" charset="0"/>
                <a:ea typeface="JetBrains Mono" pitchFamily="34" charset="-122"/>
                <a:cs typeface="JetBrains Mono" pitchFamily="34" charset="-120"/>
              </a:rPr>
              <a:t>CURRENT LIMITS</a:t>
            </a:r>
            <a:endParaRPr lang="en-US" sz="1100" dirty="0"/>
          </a:p>
        </p:txBody>
      </p:sp>
      <p:sp>
        <p:nvSpPr>
          <p:cNvPr id="8" name="Text 6"/>
          <p:cNvSpPr txBox="1"/>
          <p:nvPr/>
        </p:nvSpPr>
        <p:spPr>
          <a:xfrm>
            <a:off x="777240" y="2743200"/>
            <a:ext cx="2997098" cy="31089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Free-tier sleep and ~1s latency (API in Frankfurt, database in Cape Town).</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Demo prices/hours awaiting client sign-off; pending bookings don't expire yet.</a:t>
            </a:r>
            <a:endParaRPr lang="en-US" sz="1300" dirty="0"/>
          </a:p>
        </p:txBody>
      </p:sp>
      <p:sp>
        <p:nvSpPr>
          <p:cNvPr id="9" name="Shape 7"/>
          <p:cNvSpPr/>
          <p:nvPr/>
        </p:nvSpPr>
        <p:spPr>
          <a:xfrm>
            <a:off x="4368698" y="2103120"/>
            <a:ext cx="3454298" cy="3931920"/>
          </a:xfrm>
          <a:prstGeom prst="roundRect">
            <a:avLst>
              <a:gd name="adj" fmla="val 3706"/>
            </a:avLst>
          </a:prstGeom>
          <a:solidFill>
            <a:srgbClr val="E8E3D8"/>
          </a:solidFill>
          <a:ln/>
        </p:spPr>
        <p:txBody>
          <a:bodyPr/>
          <a:lstStyle/>
          <a:p>
            <a:endParaRPr lang="en-ZA"/>
          </a:p>
        </p:txBody>
      </p:sp>
      <p:sp>
        <p:nvSpPr>
          <p:cNvPr id="10" name="Text 8"/>
          <p:cNvSpPr txBox="1"/>
          <p:nvPr/>
        </p:nvSpPr>
        <p:spPr>
          <a:xfrm>
            <a:off x="4597298" y="2286000"/>
            <a:ext cx="2997098" cy="365760"/>
          </a:xfrm>
          <a:prstGeom prst="rect">
            <a:avLst/>
          </a:prstGeom>
          <a:noFill/>
          <a:ln/>
        </p:spPr>
        <p:txBody>
          <a:bodyPr wrap="square" lIns="0" tIns="0" rIns="0" bIns="0" rtlCol="0" anchor="ctr"/>
          <a:lstStyle/>
          <a:p>
            <a:pPr marL="0" indent="0">
              <a:buNone/>
            </a:pPr>
            <a:r>
              <a:rPr lang="en-US" sz="1100" b="1" kern="0" spc="100" dirty="0">
                <a:solidFill>
                  <a:srgbClr val="1F5C57"/>
                </a:solidFill>
                <a:latin typeface="JetBrains Mono" pitchFamily="34" charset="0"/>
                <a:ea typeface="JetBrains Mono" pitchFamily="34" charset="-122"/>
                <a:cs typeface="JetBrains Mono" pitchFamily="34" charset="-120"/>
              </a:rPr>
              <a:t>NOT BUILT</a:t>
            </a:r>
            <a:endParaRPr lang="en-US" sz="1100" dirty="0"/>
          </a:p>
        </p:txBody>
      </p:sp>
      <p:sp>
        <p:nvSpPr>
          <p:cNvPr id="11" name="Text 9"/>
          <p:cNvSpPr txBox="1"/>
          <p:nvPr/>
        </p:nvSpPr>
        <p:spPr>
          <a:xfrm>
            <a:off x="4597298" y="2743200"/>
            <a:ext cx="2997098" cy="31089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Loyalty programme</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Guest booking</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Shop / POS</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Per-barber profile pages</a:t>
            </a:r>
            <a:endParaRPr lang="en-US" sz="1300" dirty="0"/>
          </a:p>
        </p:txBody>
      </p:sp>
      <p:sp>
        <p:nvSpPr>
          <p:cNvPr id="12" name="Shape 10"/>
          <p:cNvSpPr/>
          <p:nvPr/>
        </p:nvSpPr>
        <p:spPr>
          <a:xfrm>
            <a:off x="8188757" y="2103120"/>
            <a:ext cx="3454298" cy="3931920"/>
          </a:xfrm>
          <a:prstGeom prst="roundRect">
            <a:avLst>
              <a:gd name="adj" fmla="val 3706"/>
            </a:avLst>
          </a:prstGeom>
          <a:solidFill>
            <a:srgbClr val="E8E3D8"/>
          </a:solidFill>
          <a:ln/>
        </p:spPr>
        <p:txBody>
          <a:bodyPr/>
          <a:lstStyle/>
          <a:p>
            <a:endParaRPr lang="en-ZA"/>
          </a:p>
        </p:txBody>
      </p:sp>
      <p:sp>
        <p:nvSpPr>
          <p:cNvPr id="13" name="Text 11"/>
          <p:cNvSpPr txBox="1"/>
          <p:nvPr/>
        </p:nvSpPr>
        <p:spPr>
          <a:xfrm>
            <a:off x="8417357" y="2286000"/>
            <a:ext cx="2997098" cy="365760"/>
          </a:xfrm>
          <a:prstGeom prst="rect">
            <a:avLst/>
          </a:prstGeom>
          <a:noFill/>
          <a:ln/>
        </p:spPr>
        <p:txBody>
          <a:bodyPr wrap="square" lIns="0" tIns="0" rIns="0" bIns="0" rtlCol="0" anchor="ctr"/>
          <a:lstStyle/>
          <a:p>
            <a:pPr marL="0" indent="0">
              <a:buNone/>
            </a:pPr>
            <a:r>
              <a:rPr lang="en-US" sz="1100" b="1" kern="0" spc="100" dirty="0">
                <a:solidFill>
                  <a:srgbClr val="1F5C57"/>
                </a:solidFill>
                <a:latin typeface="JetBrains Mono" pitchFamily="34" charset="0"/>
                <a:ea typeface="JetBrains Mono" pitchFamily="34" charset="-122"/>
                <a:cs typeface="JetBrains Mono" pitchFamily="34" charset="-120"/>
              </a:rPr>
              <a:t>NEXT STEPS</a:t>
            </a:r>
            <a:endParaRPr lang="en-US" sz="1100" dirty="0"/>
          </a:p>
        </p:txBody>
      </p:sp>
      <p:sp>
        <p:nvSpPr>
          <p:cNvPr id="14" name="Text 12"/>
          <p:cNvSpPr txBox="1"/>
          <p:nvPr/>
        </p:nvSpPr>
        <p:spPr>
          <a:xfrm>
            <a:off x="8417357" y="2743200"/>
            <a:ext cx="2997098" cy="310896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Client domain for email</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Persist login keys</a:t>
            </a:r>
            <a:endParaRPr lang="en-US" sz="1300" dirty="0"/>
          </a:p>
          <a:p>
            <a:pPr marL="342900" indent="-342900">
              <a:lnSpc>
                <a:spcPct val="115000"/>
              </a:lnSpc>
              <a:spcAft>
                <a:spcPts val="1000"/>
              </a:spcAft>
              <a:buSzPct val="100000"/>
              <a:buChar char="•"/>
            </a:pPr>
            <a:r>
              <a:rPr lang="en-US" sz="1300" dirty="0">
                <a:solidFill>
                  <a:srgbClr val="322F29"/>
                </a:solidFill>
                <a:latin typeface="Inter" pitchFamily="34" charset="0"/>
                <a:ea typeface="Inter" pitchFamily="34" charset="-122"/>
                <a:cs typeface="Inter" pitchFamily="34" charset="-120"/>
              </a:rPr>
              <a:t>Move database region</a:t>
            </a:r>
            <a:endParaRPr lang="en-US" sz="1300" dirty="0"/>
          </a:p>
        </p:txBody>
      </p:sp>
      <p:sp>
        <p:nvSpPr>
          <p:cNvPr id="15" name="Text 13"/>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6" name="Text 14"/>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5C57"/>
        </a:solidFill>
        <a:effectLst/>
      </p:bgPr>
    </p:bg>
    <p:spTree>
      <p:nvGrpSpPr>
        <p:cNvPr id="1" name=""/>
        <p:cNvGrpSpPr/>
        <p:nvPr/>
      </p:nvGrpSpPr>
      <p:grpSpPr>
        <a:xfrm>
          <a:off x="0" y="0"/>
          <a:ext cx="0" cy="0"/>
          <a:chOff x="0" y="0"/>
          <a:chExt cx="0" cy="0"/>
        </a:xfrm>
      </p:grpSpPr>
      <p:sp>
        <p:nvSpPr>
          <p:cNvPr id="2" name="Text 0"/>
          <p:cNvSpPr txBox="1"/>
          <p:nvPr/>
        </p:nvSpPr>
        <p:spPr>
          <a:xfrm>
            <a:off x="548640" y="2103120"/>
            <a:ext cx="11094415" cy="822960"/>
          </a:xfrm>
          <a:prstGeom prst="rect">
            <a:avLst/>
          </a:prstGeom>
          <a:noFill/>
          <a:ln/>
        </p:spPr>
        <p:txBody>
          <a:bodyPr wrap="square" lIns="0" tIns="0" rIns="0" bIns="0" rtlCol="0" anchor="ctr"/>
          <a:lstStyle/>
          <a:p>
            <a:pPr marL="0" indent="0" algn="ctr">
              <a:buNone/>
            </a:pPr>
            <a:r>
              <a:rPr lang="en-US" sz="4400" b="1" dirty="0">
                <a:solidFill>
                  <a:srgbClr val="F3EAE3"/>
                </a:solidFill>
                <a:latin typeface="Outfit" pitchFamily="34" charset="0"/>
                <a:ea typeface="Outfit" pitchFamily="34" charset="-122"/>
                <a:cs typeface="Outfit" pitchFamily="34" charset="-120"/>
              </a:rPr>
              <a:t>Thank you</a:t>
            </a:r>
            <a:endParaRPr lang="en-US" sz="4400" dirty="0"/>
          </a:p>
        </p:txBody>
      </p:sp>
      <p:sp>
        <p:nvSpPr>
          <p:cNvPr id="3" name="Text 1"/>
          <p:cNvSpPr txBox="1"/>
          <p:nvPr/>
        </p:nvSpPr>
        <p:spPr>
          <a:xfrm>
            <a:off x="548640" y="2880360"/>
            <a:ext cx="11094415" cy="502920"/>
          </a:xfrm>
          <a:prstGeom prst="rect">
            <a:avLst/>
          </a:prstGeom>
          <a:noFill/>
          <a:ln/>
        </p:spPr>
        <p:txBody>
          <a:bodyPr wrap="square" lIns="0" tIns="0" rIns="0" bIns="0" rtlCol="0" anchor="ctr"/>
          <a:lstStyle/>
          <a:p>
            <a:pPr marL="0" indent="0" algn="ctr">
              <a:buNone/>
            </a:pPr>
            <a:r>
              <a:rPr lang="en-US" sz="2000" dirty="0">
                <a:solidFill>
                  <a:srgbClr val="F3EAE3"/>
                </a:solidFill>
                <a:latin typeface="Outfit" pitchFamily="34" charset="0"/>
                <a:ea typeface="Outfit" pitchFamily="34" charset="-122"/>
                <a:cs typeface="Outfit" pitchFamily="34" charset="-120"/>
              </a:rPr>
              <a:t>Questions?</a:t>
            </a:r>
            <a:endParaRPr lang="en-US" sz="2000" dirty="0"/>
          </a:p>
        </p:txBody>
      </p:sp>
      <p:sp>
        <p:nvSpPr>
          <p:cNvPr id="4" name="Shape 2"/>
          <p:cNvSpPr/>
          <p:nvPr/>
        </p:nvSpPr>
        <p:spPr>
          <a:xfrm>
            <a:off x="3901288" y="3749040"/>
            <a:ext cx="4389120" cy="457200"/>
          </a:xfrm>
          <a:prstGeom prst="roundRect">
            <a:avLst>
              <a:gd name="adj" fmla="val 20000"/>
            </a:avLst>
          </a:prstGeom>
          <a:solidFill>
            <a:srgbClr val="E8E3D8"/>
          </a:solidFill>
          <a:ln/>
        </p:spPr>
        <p:txBody>
          <a:bodyPr/>
          <a:lstStyle/>
          <a:p>
            <a:endParaRPr lang="en-ZA"/>
          </a:p>
        </p:txBody>
      </p:sp>
      <p:sp>
        <p:nvSpPr>
          <p:cNvPr id="5" name="Text 3"/>
          <p:cNvSpPr txBox="1"/>
          <p:nvPr/>
        </p:nvSpPr>
        <p:spPr>
          <a:xfrm>
            <a:off x="3901288" y="3749040"/>
            <a:ext cx="4389120" cy="457200"/>
          </a:xfrm>
          <a:prstGeom prst="rect">
            <a:avLst/>
          </a:prstGeom>
          <a:noFill/>
          <a:ln/>
        </p:spPr>
        <p:txBody>
          <a:bodyPr wrap="square" lIns="0" tIns="0" rIns="0" bIns="0" rtlCol="0" anchor="ctr"/>
          <a:lstStyle/>
          <a:p>
            <a:pPr marL="0" indent="0" algn="ctr">
              <a:buNone/>
            </a:pPr>
            <a:r>
              <a:rPr lang="en-US" sz="1300" b="1" dirty="0">
                <a:solidFill>
                  <a:srgbClr val="55503F"/>
                </a:solidFill>
                <a:latin typeface="JetBrains Mono" pitchFamily="34" charset="0"/>
                <a:ea typeface="JetBrains Mono" pitchFamily="34" charset="-122"/>
                <a:cs typeface="JetBrains Mono" pitchFamily="34" charset="-120"/>
              </a:rPr>
              <a:t>kinsmen-web.onrender.com</a:t>
            </a:r>
            <a:endParaRPr lang="en-US" sz="1300" dirty="0"/>
          </a:p>
        </p:txBody>
      </p:sp>
      <p:sp>
        <p:nvSpPr>
          <p:cNvPr id="6" name="Shape 4"/>
          <p:cNvSpPr/>
          <p:nvPr/>
        </p:nvSpPr>
        <p:spPr>
          <a:xfrm>
            <a:off x="3901288" y="4315968"/>
            <a:ext cx="4389120" cy="457200"/>
          </a:xfrm>
          <a:prstGeom prst="roundRect">
            <a:avLst>
              <a:gd name="adj" fmla="val 20000"/>
            </a:avLst>
          </a:prstGeom>
          <a:solidFill>
            <a:srgbClr val="E8E3D8"/>
          </a:solidFill>
          <a:ln/>
        </p:spPr>
        <p:txBody>
          <a:bodyPr/>
          <a:lstStyle/>
          <a:p>
            <a:endParaRPr lang="en-ZA"/>
          </a:p>
        </p:txBody>
      </p:sp>
      <p:sp>
        <p:nvSpPr>
          <p:cNvPr id="7" name="Text 5"/>
          <p:cNvSpPr txBox="1"/>
          <p:nvPr/>
        </p:nvSpPr>
        <p:spPr>
          <a:xfrm>
            <a:off x="3901288" y="4315968"/>
            <a:ext cx="4389120" cy="457200"/>
          </a:xfrm>
          <a:prstGeom prst="rect">
            <a:avLst/>
          </a:prstGeom>
          <a:noFill/>
          <a:ln/>
        </p:spPr>
        <p:txBody>
          <a:bodyPr wrap="square" lIns="0" tIns="0" rIns="0" bIns="0" rtlCol="0" anchor="ctr"/>
          <a:lstStyle/>
          <a:p>
            <a:pPr marL="0" indent="0" algn="ctr">
              <a:buNone/>
            </a:pPr>
            <a:r>
              <a:rPr lang="en-US" sz="1300" b="1" dirty="0">
                <a:solidFill>
                  <a:srgbClr val="55503F"/>
                </a:solidFill>
                <a:latin typeface="JetBrains Mono" pitchFamily="34" charset="0"/>
                <a:ea typeface="JetBrains Mono" pitchFamily="34" charset="-122"/>
                <a:cs typeface="JetBrains Mono" pitchFamily="34" charset="-120"/>
              </a:rPr>
              <a:t>github.com/Kaehil-I/kinsmen-barbershop</a:t>
            </a:r>
            <a:endParaRPr lang="en-US" sz="1300" dirty="0"/>
          </a:p>
        </p:txBody>
      </p:sp>
      <p:sp>
        <p:nvSpPr>
          <p:cNvPr id="8" name="Text 6"/>
          <p:cNvSpPr txBox="1"/>
          <p:nvPr/>
        </p:nvSpPr>
        <p:spPr>
          <a:xfrm>
            <a:off x="548640" y="5074920"/>
            <a:ext cx="11094415" cy="411480"/>
          </a:xfrm>
          <a:prstGeom prst="rect">
            <a:avLst/>
          </a:prstGeom>
          <a:noFill/>
          <a:ln/>
        </p:spPr>
        <p:txBody>
          <a:bodyPr wrap="square" lIns="0" tIns="0" rIns="0" bIns="0" rtlCol="0" anchor="ctr"/>
          <a:lstStyle/>
          <a:p>
            <a:pPr marL="0" indent="0" algn="ctr">
              <a:buNone/>
            </a:pPr>
            <a:r>
              <a:rPr lang="en-US" sz="1500" dirty="0">
                <a:solidFill>
                  <a:srgbClr val="F3EAE3"/>
                </a:solidFill>
                <a:latin typeface="Inter" pitchFamily="34" charset="0"/>
                <a:ea typeface="Inter" pitchFamily="34" charset="-122"/>
                <a:cs typeface="Inter" pitchFamily="34" charset="-120"/>
              </a:rPr>
              <a:t>Kaehil  ·  Kyra  ·  Zario  ·  Gregory</a:t>
            </a:r>
            <a:endParaRPr lang="en-US" sz="1500" dirty="0"/>
          </a:p>
        </p:txBody>
      </p:sp>
      <p:sp>
        <p:nvSpPr>
          <p:cNvPr id="9" name="Text 7"/>
          <p:cNvSpPr txBox="1"/>
          <p:nvPr/>
        </p:nvSpPr>
        <p:spPr>
          <a:xfrm>
            <a:off x="548640" y="6437376"/>
            <a:ext cx="5486400" cy="274320"/>
          </a:xfrm>
          <a:prstGeom prst="rect">
            <a:avLst/>
          </a:prstGeom>
          <a:noFill/>
          <a:ln/>
        </p:spPr>
        <p:txBody>
          <a:bodyPr wrap="square" lIns="0" tIns="0" rIns="0" bIns="0" rtlCol="0" anchor="ctr"/>
          <a:lstStyle/>
          <a:p>
            <a:pPr marL="0" indent="0">
              <a:buNone/>
            </a:pPr>
            <a:r>
              <a:rPr lang="en-US" sz="800" kern="0" spc="100" dirty="0">
                <a:solidFill>
                  <a:srgbClr val="726C5E"/>
                </a:solidFill>
                <a:latin typeface="JetBrains Mono" pitchFamily="34" charset="0"/>
                <a:ea typeface="JetBrains Mono" pitchFamily="34" charset="-122"/>
                <a:cs typeface="JetBrains Mono" pitchFamily="34" charset="-120"/>
              </a:rPr>
              <a:t>KINSMEN · INSY7315 WIL · PART 2</a:t>
            </a:r>
            <a:endParaRPr lang="en-US" sz="800" dirty="0"/>
          </a:p>
        </p:txBody>
      </p:sp>
      <p:sp>
        <p:nvSpPr>
          <p:cNvPr id="10" name="Text 8"/>
          <p:cNvSpPr txBox="1"/>
          <p:nvPr/>
        </p:nvSpPr>
        <p:spPr>
          <a:xfrm>
            <a:off x="10728655" y="6437376"/>
            <a:ext cx="914400" cy="274320"/>
          </a:xfrm>
          <a:prstGeom prst="rect">
            <a:avLst/>
          </a:prstGeom>
          <a:noFill/>
          <a:ln/>
        </p:spPr>
        <p:txBody>
          <a:bodyPr wrap="square" lIns="0" tIns="0" rIns="0" bIns="0" rtlCol="0" anchor="ctr"/>
          <a:lstStyle/>
          <a:p>
            <a:pPr marL="0" indent="0" algn="r">
              <a:buNone/>
            </a:pPr>
            <a:r>
              <a:rPr lang="en-US" sz="800" dirty="0">
                <a:solidFill>
                  <a:srgbClr val="726C5E"/>
                </a:solidFill>
                <a:latin typeface="JetBrains Mono" pitchFamily="34" charset="0"/>
                <a:ea typeface="JetBrains Mono" pitchFamily="34" charset="-122"/>
                <a:cs typeface="JetBrains Mono" pitchFamily="34" charset="-120"/>
              </a:rPr>
              <a:t>14</a:t>
            </a:r>
            <a:endParaRPr lang="en-US" sz="800" dirty="0"/>
          </a:p>
        </p:txBody>
      </p:sp>
    </p:spTree>
  </p:cSld>
  <p:clrMapOvr>
    <a:masterClrMapping/>
  </p:clrMapOvr>
</p:sld>
</file>

<file path=ppt/theme/theme1.xml><?xml version="1.0" encoding="utf-8"?>
<a:theme xmlns:a="http://schemas.openxmlformats.org/drawingml/2006/main" name="Kinsmen">
  <a:themeElements>
    <a:clrScheme name="Kinsmen">
      <a:dk1>
        <a:srgbClr val="322F29"/>
      </a:dk1>
      <a:lt1>
        <a:srgbClr val="DED7C6"/>
      </a:lt1>
      <a:dk2>
        <a:srgbClr val="55503F"/>
      </a:dk2>
      <a:lt2>
        <a:srgbClr val="E8E3D8"/>
      </a:lt2>
      <a:accent1>
        <a:srgbClr val="7C3626"/>
      </a:accent1>
      <a:accent2>
        <a:srgbClr val="1F5C57"/>
      </a:accent2>
      <a:accent3>
        <a:srgbClr val="9C6B22"/>
      </a:accent3>
      <a:accent4>
        <a:srgbClr val="726C5E"/>
      </a:accent4>
      <a:accent5>
        <a:srgbClr val="F3EAE3"/>
      </a:accent5>
      <a:accent6>
        <a:srgbClr val="C9BFA8"/>
      </a:accent6>
      <a:hlink>
        <a:srgbClr val="7C3626"/>
      </a:hlink>
      <a:folHlink>
        <a:srgbClr val="1F5C57"/>
      </a:folHlink>
    </a:clrScheme>
    <a:fontScheme name="Kinsmen">
      <a:majorFont>
        <a:latin typeface="Outfi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2499</Words>
  <Application>Microsoft Office PowerPoint</Application>
  <PresentationFormat>Widescreen</PresentationFormat>
  <Paragraphs>207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Inter</vt:lpstr>
      <vt:lpstr>JetBrains Mono</vt:lpstr>
      <vt:lpstr>Outfit</vt:lpstr>
      <vt:lpstr>Kinsmen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Kaehil Indurjeeth</cp:lastModifiedBy>
  <cp:revision>2</cp:revision>
  <dcterms:created xsi:type="dcterms:W3CDTF">2026-10-05T18:44:56Z</dcterms:created>
  <dcterms:modified xsi:type="dcterms:W3CDTF">2026-10-05T19:02:01Z</dcterms:modified>
</cp:coreProperties>
</file>